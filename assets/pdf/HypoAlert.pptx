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Garet" charset="1" panose="00000000000000000000"/>
      <p:regular r:id="rId18"/>
    </p:embeddedFont>
    <p:embeddedFont>
      <p:font typeface="Arimo" charset="1" panose="020B0604020202020204"/>
      <p:regular r:id="rId21"/>
    </p:embeddedFont>
    <p:embeddedFont>
      <p:font typeface="Garet Bold"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fonts/font21.fntdata" Type="http://schemas.openxmlformats.org/officeDocument/2006/relationships/font"/><Relationship Id="rId22" Target="notesSlides/notesSlide4.xml" Type="http://schemas.openxmlformats.org/officeDocument/2006/relationships/notesSlide"/><Relationship Id="rId23" Target="fonts/font23.fntdata" Type="http://schemas.openxmlformats.org/officeDocument/2006/relationships/font"/><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my name is Caleb</a:t>
            </a:r>
          </a:p>
          <a:p>
            <a:r>
              <a:rPr lang="en-US"/>
              <a:t>I'm Ethan</a:t>
            </a:r>
          </a:p>
          <a:p>
            <a:r>
              <a:rPr lang="en-US"/>
              <a:t>I'm Keisuke</a:t>
            </a:r>
          </a:p>
          <a:p>
            <a:r>
              <a:rPr lang="en-US"/>
              <a:t>and I'm Nick</a:t>
            </a:r>
          </a:p>
          <a:p>
            <a:r>
              <a:rPr lang="en-US"/>
              <a:t/>
            </a:r>
          </a:p>
          <a:p>
            <a:r>
              <a:rPr lang="en-US"/>
              <a:t>And we are the creators of HypoAlert, a low-cost, kid-friendly warning system for hypoglycemia.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little about our team.</a:t>
            </a:r>
          </a:p>
          <a:p>
            <a:r>
              <a:rPr lang="en-US"/>
              <a:t/>
            </a:r>
          </a:p>
          <a:p>
            <a:r>
              <a:rPr lang="en-US"/>
              <a:t>Nick - I'm a freshman ECE major, and I worked on desgining the </a:t>
            </a:r>
          </a:p>
          <a:p>
            <a:r>
              <a:rPr lang="en-US"/>
              <a:t/>
            </a:r>
          </a:p>
          <a:p>
            <a:r>
              <a:rPr lang="en-US"/>
              <a:t>Ethan - I'm a freshman ECE major, and I worked on designing the </a:t>
            </a:r>
          </a:p>
          <a:p>
            <a:r>
              <a:rPr lang="en-US"/>
              <a:t/>
            </a:r>
          </a:p>
          <a:p>
            <a:r>
              <a:rPr lang="en-US"/>
              <a:t>Keisuke - I'm a freshman MechE major, and I worked on desgining the cuff and </a:t>
            </a:r>
          </a:p>
          <a:p>
            <a:r>
              <a:rPr lang="en-US"/>
              <a:t/>
            </a:r>
          </a:p>
          <a:p>
            <a:r>
              <a:rPr lang="en-US"/>
              <a:t>Caleb - I'm a freshman BME major, and I worked on the initial idea and it's impacts.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Diabetes is a growing issue, especially with kids, where it is on the rise.</a:t>
            </a:r>
          </a:p>
          <a:p>
            <a:r>
              <a:rPr lang="en-US"/>
              <a:t>One of the most common treatments is insulin injections, which are available but often come with side effects.</a:t>
            </a:r>
          </a:p>
          <a:p>
            <a:r>
              <a:rPr lang="en-US"/>
              <a:t>In particular, younger kids who are on insulin can be ask risk for hypoglycemia, when their injected insulin drops their blood sugar dangerously low.</a:t>
            </a:r>
          </a:p>
          <a:p>
            <a:r>
              <a:rPr lang="en-US"/>
              <a:t>Current methods for detecting hypoglycemia are inconsistent, expensive, and invasive.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solve this issue, we developed a bracelet that senses symptoms of hypoglycemia due to insulin treatments.</a:t>
            </a:r>
          </a:p>
          <a:p>
            <a:r>
              <a:rPr lang="en-US"/>
              <a:t>It tracks heartbeat and skin temperature, getting a baseline of the individual’s normal levels and altering them when those factors indicate their blood sugar is dangerously low.</a:t>
            </a:r>
          </a:p>
          <a:p>
            <a:r>
              <a:rPr lang="en-US"/>
              <a:t>This is a non-invasive indicator specifically for kids, particularly in low-income communities where more expensive treatments like continuous glucose monitors are unattainable.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Given the constraints of this competition, we created this minimum viable product, which uses a few of the features we planned out in our solution.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a few constraints we acknowledge with our device.</a:t>
            </a:r>
          </a:p>
          <a:p>
            <a:r>
              <a:rPr lang="en-US"/>
              <a:t/>
            </a:r>
          </a:p>
          <a:p>
            <a:r>
              <a:rPr lang="en-US"/>
              <a:t>One, we are limited in our warnings to the user when they are experiencing hypoglycemia, as messages can be ignored or missed depending on the activity.</a:t>
            </a:r>
          </a:p>
          <a:p>
            <a:r>
              <a:rPr lang="en-US"/>
              <a:t/>
            </a:r>
          </a:p>
          <a:p>
            <a:r>
              <a:rPr lang="en-US"/>
              <a:t>Two, the device can be fooled by high-intensity activity, which can produce similar effects to hypoglycemia, including sweat and elevated heartbeat levels. However, by monitoring the body's temperature, which drops with hypoglycemia, we can avoid false positives with greater accuracy.</a:t>
            </a:r>
          </a:p>
          <a:p>
            <a:r>
              <a:rPr lang="en-US"/>
              <a:t/>
            </a:r>
          </a:p>
          <a:p>
            <a:r>
              <a:rPr lang="en-US"/>
              <a:t>Finally, we are in a similar niche to continuous glucose monitors, as we track of the symptoms of hypoglycemia and they track the glucose levels themselves, but we are better suited to low-income families and those who are adverse to attaching a monitor directly in their 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HypoAlert is working to make hypoglycemia detection more kid-friendly, more consistent, and more accessible.</a:t>
            </a:r>
          </a:p>
          <a:p>
            <a:r>
              <a:rPr lang="en-US"/>
              <a:t/>
            </a:r>
          </a:p>
          <a:p>
            <a:r>
              <a:rPr lang="en-US"/>
              <a:t>Thank you for your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https://www.diabetes.co.uk/insulin/diabetes-and-insulin-pens.html"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2.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1.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7.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VAHCEIVoaIc.mp4" Type="http://schemas.openxmlformats.org/officeDocument/2006/relationships/video"/><Relationship Id="rId4" Target="../media/VAHCEIVoaIc.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9.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grpSp>
        <p:nvGrpSpPr>
          <p:cNvPr name="Group 2" id="2"/>
          <p:cNvGrpSpPr/>
          <p:nvPr/>
        </p:nvGrpSpPr>
        <p:grpSpPr>
          <a:xfrm rot="0">
            <a:off x="12453650" y="0"/>
            <a:ext cx="5834350" cy="10287000"/>
            <a:chOff x="0" y="0"/>
            <a:chExt cx="1536619" cy="2709333"/>
          </a:xfrm>
        </p:grpSpPr>
        <p:sp>
          <p:nvSpPr>
            <p:cNvPr name="Freeform 3" id="3"/>
            <p:cNvSpPr/>
            <p:nvPr/>
          </p:nvSpPr>
          <p:spPr>
            <a:xfrm flipH="false" flipV="false" rot="0">
              <a:off x="0" y="0"/>
              <a:ext cx="1536619" cy="2709333"/>
            </a:xfrm>
            <a:custGeom>
              <a:avLst/>
              <a:gdLst/>
              <a:ahLst/>
              <a:cxnLst/>
              <a:rect r="r" b="b" t="t" l="l"/>
              <a:pathLst>
                <a:path h="2709333" w="1536619">
                  <a:moveTo>
                    <a:pt x="0" y="0"/>
                  </a:moveTo>
                  <a:lnTo>
                    <a:pt x="1536619" y="0"/>
                  </a:lnTo>
                  <a:lnTo>
                    <a:pt x="1536619" y="2709333"/>
                  </a:lnTo>
                  <a:lnTo>
                    <a:pt x="0" y="2709333"/>
                  </a:lnTo>
                  <a:close/>
                </a:path>
              </a:pathLst>
            </a:custGeom>
            <a:solidFill>
              <a:srgbClr val="7CA4FD"/>
            </a:solidFill>
          </p:spPr>
        </p:sp>
        <p:sp>
          <p:nvSpPr>
            <p:cNvPr name="TextBox 4" id="4"/>
            <p:cNvSpPr txBox="true"/>
            <p:nvPr/>
          </p:nvSpPr>
          <p:spPr>
            <a:xfrm>
              <a:off x="0" y="-38100"/>
              <a:ext cx="1536619" cy="2747433"/>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028700" y="8303260"/>
            <a:ext cx="955040" cy="95504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CA4FD"/>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AutoShape 8" id="8"/>
          <p:cNvSpPr/>
          <p:nvPr/>
        </p:nvSpPr>
        <p:spPr>
          <a:xfrm>
            <a:off x="1028700" y="7793673"/>
            <a:ext cx="7554060" cy="0"/>
          </a:xfrm>
          <a:prstGeom prst="line">
            <a:avLst/>
          </a:prstGeom>
          <a:ln cap="flat" w="9525">
            <a:solidFill>
              <a:srgbClr val="283353"/>
            </a:solidFill>
            <a:prstDash val="solid"/>
            <a:headEnd type="none" len="sm" w="sm"/>
            <a:tailEnd type="none" len="sm" w="sm"/>
          </a:ln>
        </p:spPr>
      </p:sp>
      <p:sp>
        <p:nvSpPr>
          <p:cNvPr name="Freeform 9" id="9"/>
          <p:cNvSpPr/>
          <p:nvPr/>
        </p:nvSpPr>
        <p:spPr>
          <a:xfrm flipH="false" flipV="false" rot="0">
            <a:off x="9161178" y="1028700"/>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591198" y="666459"/>
            <a:ext cx="7107302" cy="8954082"/>
          </a:xfrm>
          <a:custGeom>
            <a:avLst/>
            <a:gdLst/>
            <a:ahLst/>
            <a:cxnLst/>
            <a:rect r="r" b="b" t="t" l="l"/>
            <a:pathLst>
              <a:path h="8954082" w="7107302">
                <a:moveTo>
                  <a:pt x="0" y="0"/>
                </a:moveTo>
                <a:lnTo>
                  <a:pt x="7107303" y="0"/>
                </a:lnTo>
                <a:lnTo>
                  <a:pt x="7107303" y="8954082"/>
                </a:lnTo>
                <a:lnTo>
                  <a:pt x="0" y="8954082"/>
                </a:lnTo>
                <a:lnTo>
                  <a:pt x="0" y="0"/>
                </a:lnTo>
                <a:close/>
              </a:path>
            </a:pathLst>
          </a:custGeom>
          <a:blipFill>
            <a:blip r:embed="rId5"/>
            <a:stretch>
              <a:fillRect l="-12036" t="-13568" r="-11055" b="-16704"/>
            </a:stretch>
          </a:blipFill>
        </p:spPr>
      </p:sp>
      <p:sp>
        <p:nvSpPr>
          <p:cNvPr name="TextBox 11" id="11"/>
          <p:cNvSpPr txBox="true"/>
          <p:nvPr/>
        </p:nvSpPr>
        <p:spPr>
          <a:xfrm rot="0">
            <a:off x="925840" y="1479264"/>
            <a:ext cx="7656920" cy="1573255"/>
          </a:xfrm>
          <a:prstGeom prst="rect">
            <a:avLst/>
          </a:prstGeom>
        </p:spPr>
        <p:txBody>
          <a:bodyPr anchor="t" rtlCol="false" tIns="0" lIns="0" bIns="0" rIns="0">
            <a:spAutoFit/>
          </a:bodyPr>
          <a:lstStyle/>
          <a:p>
            <a:pPr algn="l">
              <a:lnSpc>
                <a:spcPts val="12980"/>
              </a:lnSpc>
              <a:spcBef>
                <a:spcPct val="0"/>
              </a:spcBef>
            </a:pPr>
            <a:r>
              <a:rPr lang="en-US" sz="9271" spc="-695">
                <a:solidFill>
                  <a:srgbClr val="283353"/>
                </a:solidFill>
                <a:latin typeface="Garet"/>
                <a:ea typeface="Garet"/>
                <a:cs typeface="Garet"/>
                <a:sym typeface="Garet"/>
              </a:rPr>
              <a:t>HypoAlert</a:t>
            </a:r>
          </a:p>
        </p:txBody>
      </p:sp>
      <p:sp>
        <p:nvSpPr>
          <p:cNvPr name="TextBox 12" id="12"/>
          <p:cNvSpPr txBox="true"/>
          <p:nvPr/>
        </p:nvSpPr>
        <p:spPr>
          <a:xfrm rot="0">
            <a:off x="1028700" y="3052519"/>
            <a:ext cx="8556976" cy="1085850"/>
          </a:xfrm>
          <a:prstGeom prst="rect">
            <a:avLst/>
          </a:prstGeom>
        </p:spPr>
        <p:txBody>
          <a:bodyPr anchor="t" rtlCol="false" tIns="0" lIns="0" bIns="0" rIns="0">
            <a:spAutoFit/>
          </a:bodyPr>
          <a:lstStyle/>
          <a:p>
            <a:pPr algn="l">
              <a:lnSpc>
                <a:spcPts val="4319"/>
              </a:lnSpc>
            </a:pPr>
            <a:r>
              <a:rPr lang="en-US" sz="3599" spc="-89">
                <a:solidFill>
                  <a:srgbClr val="283353"/>
                </a:solidFill>
                <a:latin typeface="Garet"/>
                <a:ea typeface="Garet"/>
                <a:cs typeface="Garet"/>
                <a:sym typeface="Garet"/>
              </a:rPr>
              <a:t>A low-cost, kid-friendly warning system for hypoglycemia</a:t>
            </a:r>
          </a:p>
        </p:txBody>
      </p:sp>
      <p:sp>
        <p:nvSpPr>
          <p:cNvPr name="TextBox 13" id="13"/>
          <p:cNvSpPr txBox="true"/>
          <p:nvPr/>
        </p:nvSpPr>
        <p:spPr>
          <a:xfrm rot="0">
            <a:off x="1028700" y="5851649"/>
            <a:ext cx="8556976" cy="1676400"/>
          </a:xfrm>
          <a:prstGeom prst="rect">
            <a:avLst/>
          </a:prstGeom>
        </p:spPr>
        <p:txBody>
          <a:bodyPr anchor="t" rtlCol="false" tIns="0" lIns="0" bIns="0" rIns="0">
            <a:spAutoFit/>
          </a:bodyPr>
          <a:lstStyle/>
          <a:p>
            <a:pPr algn="l">
              <a:lnSpc>
                <a:spcPts val="3359"/>
              </a:lnSpc>
            </a:pPr>
            <a:r>
              <a:rPr lang="en-US" sz="2799" spc="-69">
                <a:solidFill>
                  <a:srgbClr val="283353"/>
                </a:solidFill>
                <a:latin typeface="Garet"/>
                <a:ea typeface="Garet"/>
                <a:cs typeface="Garet"/>
                <a:sym typeface="Garet"/>
              </a:rPr>
              <a:t>Caleb Takiguchi</a:t>
            </a:r>
          </a:p>
          <a:p>
            <a:pPr algn="l">
              <a:lnSpc>
                <a:spcPts val="3359"/>
              </a:lnSpc>
            </a:pPr>
            <a:r>
              <a:rPr lang="en-US" sz="2799" spc="-69">
                <a:solidFill>
                  <a:srgbClr val="283353"/>
                </a:solidFill>
                <a:latin typeface="Garet"/>
                <a:ea typeface="Garet"/>
                <a:cs typeface="Garet"/>
                <a:sym typeface="Garet"/>
              </a:rPr>
              <a:t>Ethan Hau</a:t>
            </a:r>
          </a:p>
          <a:p>
            <a:pPr algn="l">
              <a:lnSpc>
                <a:spcPts val="3359"/>
              </a:lnSpc>
            </a:pPr>
            <a:r>
              <a:rPr lang="en-US" sz="2799" spc="-69">
                <a:solidFill>
                  <a:srgbClr val="283353"/>
                </a:solidFill>
                <a:latin typeface="Garet"/>
                <a:ea typeface="Garet"/>
                <a:cs typeface="Garet"/>
                <a:sym typeface="Garet"/>
              </a:rPr>
              <a:t>Keisuke Kwong</a:t>
            </a:r>
          </a:p>
          <a:p>
            <a:pPr algn="l">
              <a:lnSpc>
                <a:spcPts val="3359"/>
              </a:lnSpc>
            </a:pPr>
            <a:r>
              <a:rPr lang="en-US" sz="2799" spc="-69">
                <a:solidFill>
                  <a:srgbClr val="283353"/>
                </a:solidFill>
                <a:latin typeface="Garet"/>
                <a:ea typeface="Garet"/>
                <a:cs typeface="Garet"/>
                <a:sym typeface="Garet"/>
              </a:rPr>
              <a:t>Nicholas Biega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grpSp>
        <p:nvGrpSpPr>
          <p:cNvPr name="Group 2" id="2"/>
          <p:cNvGrpSpPr/>
          <p:nvPr/>
        </p:nvGrpSpPr>
        <p:grpSpPr>
          <a:xfrm rot="0">
            <a:off x="-880886" y="-323294"/>
            <a:ext cx="5244913" cy="6088459"/>
            <a:chOff x="0" y="0"/>
            <a:chExt cx="1381376" cy="1603545"/>
          </a:xfrm>
        </p:grpSpPr>
        <p:sp>
          <p:nvSpPr>
            <p:cNvPr name="Freeform 3" id="3"/>
            <p:cNvSpPr/>
            <p:nvPr/>
          </p:nvSpPr>
          <p:spPr>
            <a:xfrm flipH="false" flipV="false" rot="0">
              <a:off x="0" y="0"/>
              <a:ext cx="1381376" cy="1603545"/>
            </a:xfrm>
            <a:custGeom>
              <a:avLst/>
              <a:gdLst/>
              <a:ahLst/>
              <a:cxnLst/>
              <a:rect r="r" b="b" t="t" l="l"/>
              <a:pathLst>
                <a:path h="1603545" w="1381376">
                  <a:moveTo>
                    <a:pt x="51663" y="0"/>
                  </a:moveTo>
                  <a:lnTo>
                    <a:pt x="1329714" y="0"/>
                  </a:lnTo>
                  <a:cubicBezTo>
                    <a:pt x="1358246" y="0"/>
                    <a:pt x="1381376" y="23130"/>
                    <a:pt x="1381376" y="51663"/>
                  </a:cubicBezTo>
                  <a:lnTo>
                    <a:pt x="1381376" y="1551882"/>
                  </a:lnTo>
                  <a:cubicBezTo>
                    <a:pt x="1381376" y="1580414"/>
                    <a:pt x="1358246" y="1603545"/>
                    <a:pt x="1329714" y="1603545"/>
                  </a:cubicBezTo>
                  <a:lnTo>
                    <a:pt x="51663" y="1603545"/>
                  </a:lnTo>
                  <a:cubicBezTo>
                    <a:pt x="23130" y="1603545"/>
                    <a:pt x="0" y="1580414"/>
                    <a:pt x="0" y="1551882"/>
                  </a:cubicBezTo>
                  <a:lnTo>
                    <a:pt x="0" y="51663"/>
                  </a:lnTo>
                  <a:cubicBezTo>
                    <a:pt x="0" y="23130"/>
                    <a:pt x="23130" y="0"/>
                    <a:pt x="51663" y="0"/>
                  </a:cubicBezTo>
                  <a:close/>
                </a:path>
              </a:pathLst>
            </a:custGeom>
            <a:solidFill>
              <a:srgbClr val="7CA4FD"/>
            </a:solidFill>
          </p:spPr>
        </p:sp>
        <p:sp>
          <p:nvSpPr>
            <p:cNvPr name="TextBox 4" id="4"/>
            <p:cNvSpPr txBox="true"/>
            <p:nvPr/>
          </p:nvSpPr>
          <p:spPr>
            <a:xfrm>
              <a:off x="0" y="-38100"/>
              <a:ext cx="1381376" cy="1641645"/>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914815" y="3044507"/>
            <a:ext cx="3095482" cy="3818902"/>
            <a:chOff x="0" y="0"/>
            <a:chExt cx="1842676" cy="2273313"/>
          </a:xfrm>
        </p:grpSpPr>
        <p:sp>
          <p:nvSpPr>
            <p:cNvPr name="Freeform 6" id="6"/>
            <p:cNvSpPr/>
            <p:nvPr/>
          </p:nvSpPr>
          <p:spPr>
            <a:xfrm flipH="false" flipV="false" rot="0">
              <a:off x="0" y="0"/>
              <a:ext cx="1842676" cy="2273313"/>
            </a:xfrm>
            <a:custGeom>
              <a:avLst/>
              <a:gdLst/>
              <a:ahLst/>
              <a:cxnLst/>
              <a:rect r="r" b="b" t="t" l="l"/>
              <a:pathLst>
                <a:path h="2273313" w="1842676">
                  <a:moveTo>
                    <a:pt x="1428413" y="38122"/>
                  </a:moveTo>
                  <a:cubicBezTo>
                    <a:pt x="1406714" y="13865"/>
                    <a:pt x="1375709" y="0"/>
                    <a:pt x="1257238"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1662539"/>
                  </a:lnTo>
                  <a:cubicBezTo>
                    <a:pt x="0" y="1690678"/>
                    <a:pt x="10372" y="1717829"/>
                    <a:pt x="29133" y="1738801"/>
                  </a:cubicBezTo>
                  <a:lnTo>
                    <a:pt x="248999" y="1984585"/>
                  </a:lnTo>
                  <a:cubicBezTo>
                    <a:pt x="270698" y="2008842"/>
                    <a:pt x="301704" y="2022706"/>
                    <a:pt x="334250" y="2022706"/>
                  </a:cubicBezTo>
                  <a:lnTo>
                    <a:pt x="587615" y="2022706"/>
                  </a:lnTo>
                  <a:cubicBezTo>
                    <a:pt x="620162" y="2022706"/>
                    <a:pt x="651168" y="2036571"/>
                    <a:pt x="672868" y="2060829"/>
                  </a:cubicBezTo>
                  <a:lnTo>
                    <a:pt x="828844" y="2235191"/>
                  </a:lnTo>
                  <a:cubicBezTo>
                    <a:pt x="850543" y="2259448"/>
                    <a:pt x="881549" y="2273313"/>
                    <a:pt x="914095" y="2273313"/>
                  </a:cubicBezTo>
                  <a:lnTo>
                    <a:pt x="1728291" y="2273313"/>
                  </a:lnTo>
                  <a:cubicBezTo>
                    <a:pt x="1758628" y="2273313"/>
                    <a:pt x="1787722" y="2261262"/>
                    <a:pt x="1809173" y="2239811"/>
                  </a:cubicBezTo>
                  <a:cubicBezTo>
                    <a:pt x="1830625" y="2218360"/>
                    <a:pt x="1842676" y="2189266"/>
                    <a:pt x="1842676" y="2158929"/>
                  </a:cubicBezTo>
                  <a:lnTo>
                    <a:pt x="1842676" y="2022706"/>
                  </a:lnTo>
                  <a:lnTo>
                    <a:pt x="1842676" y="567445"/>
                  </a:lnTo>
                  <a:cubicBezTo>
                    <a:pt x="1842676" y="524794"/>
                    <a:pt x="1826954" y="483639"/>
                    <a:pt x="1798518" y="451851"/>
                  </a:cubicBezTo>
                  <a:close/>
                </a:path>
              </a:pathLst>
            </a:custGeom>
            <a:blipFill>
              <a:blip r:embed="rId3"/>
              <a:stretch>
                <a:fillRect l="0" t="-4037" r="0" b="-4037"/>
              </a:stretch>
            </a:blipFill>
          </p:spPr>
        </p:sp>
      </p:grpSp>
      <p:grpSp>
        <p:nvGrpSpPr>
          <p:cNvPr name="Group 7" id="7"/>
          <p:cNvGrpSpPr/>
          <p:nvPr/>
        </p:nvGrpSpPr>
        <p:grpSpPr>
          <a:xfrm rot="0">
            <a:off x="16304260" y="1028700"/>
            <a:ext cx="955040" cy="9550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CA4FD"/>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0">
            <a:off x="1698743" y="7245032"/>
            <a:ext cx="3527626" cy="1028700"/>
            <a:chOff x="0" y="0"/>
            <a:chExt cx="929087" cy="270933"/>
          </a:xfrm>
        </p:grpSpPr>
        <p:sp>
          <p:nvSpPr>
            <p:cNvPr name="Freeform 11" id="11"/>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7CA4FD"/>
            </a:solidFill>
          </p:spPr>
        </p:sp>
        <p:sp>
          <p:nvSpPr>
            <p:cNvPr name="TextBox 12" id="12"/>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sp>
        <p:nvSpPr>
          <p:cNvPr name="Freeform 13" id="13"/>
          <p:cNvSpPr/>
          <p:nvPr/>
        </p:nvSpPr>
        <p:spPr>
          <a:xfrm flipH="false" flipV="false" rot="0">
            <a:off x="1028700" y="9037035"/>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4" id="14"/>
          <p:cNvSpPr/>
          <p:nvPr/>
        </p:nvSpPr>
        <p:spPr>
          <a:xfrm flipV="true">
            <a:off x="1028700" y="2081212"/>
            <a:ext cx="7312427" cy="0"/>
          </a:xfrm>
          <a:prstGeom prst="line">
            <a:avLst/>
          </a:prstGeom>
          <a:ln cap="flat" w="9525">
            <a:solidFill>
              <a:srgbClr val="283353"/>
            </a:solidFill>
            <a:prstDash val="solid"/>
            <a:headEnd type="none" len="sm" w="sm"/>
            <a:tailEnd type="none" len="sm" w="sm"/>
          </a:ln>
        </p:spPr>
      </p:sp>
      <p:grpSp>
        <p:nvGrpSpPr>
          <p:cNvPr name="Group 15" id="15"/>
          <p:cNvGrpSpPr/>
          <p:nvPr/>
        </p:nvGrpSpPr>
        <p:grpSpPr>
          <a:xfrm rot="0">
            <a:off x="5832446" y="3044507"/>
            <a:ext cx="3095482" cy="3818902"/>
            <a:chOff x="0" y="0"/>
            <a:chExt cx="1842676" cy="2273313"/>
          </a:xfrm>
        </p:grpSpPr>
        <p:sp>
          <p:nvSpPr>
            <p:cNvPr name="Freeform 16" id="16"/>
            <p:cNvSpPr/>
            <p:nvPr/>
          </p:nvSpPr>
          <p:spPr>
            <a:xfrm flipH="false" flipV="false" rot="0">
              <a:off x="0" y="0"/>
              <a:ext cx="1842676" cy="2273313"/>
            </a:xfrm>
            <a:custGeom>
              <a:avLst/>
              <a:gdLst/>
              <a:ahLst/>
              <a:cxnLst/>
              <a:rect r="r" b="b" t="t" l="l"/>
              <a:pathLst>
                <a:path h="2273313" w="1842676">
                  <a:moveTo>
                    <a:pt x="1428413" y="38122"/>
                  </a:moveTo>
                  <a:cubicBezTo>
                    <a:pt x="1406714" y="13865"/>
                    <a:pt x="1375709" y="0"/>
                    <a:pt x="1257238"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1662539"/>
                  </a:lnTo>
                  <a:cubicBezTo>
                    <a:pt x="0" y="1690678"/>
                    <a:pt x="10372" y="1717829"/>
                    <a:pt x="29133" y="1738801"/>
                  </a:cubicBezTo>
                  <a:lnTo>
                    <a:pt x="248999" y="1984585"/>
                  </a:lnTo>
                  <a:cubicBezTo>
                    <a:pt x="270698" y="2008842"/>
                    <a:pt x="301704" y="2022706"/>
                    <a:pt x="334250" y="2022706"/>
                  </a:cubicBezTo>
                  <a:lnTo>
                    <a:pt x="587615" y="2022706"/>
                  </a:lnTo>
                  <a:cubicBezTo>
                    <a:pt x="620162" y="2022706"/>
                    <a:pt x="651168" y="2036571"/>
                    <a:pt x="672868" y="2060829"/>
                  </a:cubicBezTo>
                  <a:lnTo>
                    <a:pt x="828844" y="2235191"/>
                  </a:lnTo>
                  <a:cubicBezTo>
                    <a:pt x="850543" y="2259448"/>
                    <a:pt x="881549" y="2273313"/>
                    <a:pt x="914095" y="2273313"/>
                  </a:cubicBezTo>
                  <a:lnTo>
                    <a:pt x="1728291" y="2273313"/>
                  </a:lnTo>
                  <a:cubicBezTo>
                    <a:pt x="1758628" y="2273313"/>
                    <a:pt x="1787722" y="2261262"/>
                    <a:pt x="1809173" y="2239811"/>
                  </a:cubicBezTo>
                  <a:cubicBezTo>
                    <a:pt x="1830625" y="2218360"/>
                    <a:pt x="1842676" y="2189266"/>
                    <a:pt x="1842676" y="2158929"/>
                  </a:cubicBezTo>
                  <a:lnTo>
                    <a:pt x="1842676" y="2022706"/>
                  </a:lnTo>
                  <a:lnTo>
                    <a:pt x="1842676" y="567445"/>
                  </a:lnTo>
                  <a:cubicBezTo>
                    <a:pt x="1842676" y="524794"/>
                    <a:pt x="1826954" y="483639"/>
                    <a:pt x="1798518" y="451851"/>
                  </a:cubicBezTo>
                  <a:close/>
                </a:path>
              </a:pathLst>
            </a:custGeom>
            <a:blipFill>
              <a:blip r:embed="rId6"/>
              <a:stretch>
                <a:fillRect l="0" t="-4037" r="0" b="-4037"/>
              </a:stretch>
            </a:blipFill>
          </p:spPr>
        </p:sp>
      </p:grpSp>
      <p:grpSp>
        <p:nvGrpSpPr>
          <p:cNvPr name="Group 17" id="17"/>
          <p:cNvGrpSpPr/>
          <p:nvPr/>
        </p:nvGrpSpPr>
        <p:grpSpPr>
          <a:xfrm rot="0">
            <a:off x="5616374" y="7245032"/>
            <a:ext cx="3527626" cy="1028700"/>
            <a:chOff x="0" y="0"/>
            <a:chExt cx="929087" cy="270933"/>
          </a:xfrm>
        </p:grpSpPr>
        <p:sp>
          <p:nvSpPr>
            <p:cNvPr name="Freeform 18" id="18"/>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7CA4FD"/>
            </a:solidFill>
          </p:spPr>
        </p:sp>
        <p:sp>
          <p:nvSpPr>
            <p:cNvPr name="TextBox 19" id="19"/>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20" id="20"/>
          <p:cNvGrpSpPr/>
          <p:nvPr/>
        </p:nvGrpSpPr>
        <p:grpSpPr>
          <a:xfrm rot="0">
            <a:off x="9969672" y="3044507"/>
            <a:ext cx="3095482" cy="3818902"/>
            <a:chOff x="0" y="0"/>
            <a:chExt cx="1842676" cy="2273313"/>
          </a:xfrm>
        </p:grpSpPr>
        <p:sp>
          <p:nvSpPr>
            <p:cNvPr name="Freeform 21" id="21"/>
            <p:cNvSpPr/>
            <p:nvPr/>
          </p:nvSpPr>
          <p:spPr>
            <a:xfrm flipH="false" flipV="false" rot="0">
              <a:off x="0" y="0"/>
              <a:ext cx="1842676" cy="2273313"/>
            </a:xfrm>
            <a:custGeom>
              <a:avLst/>
              <a:gdLst/>
              <a:ahLst/>
              <a:cxnLst/>
              <a:rect r="r" b="b" t="t" l="l"/>
              <a:pathLst>
                <a:path h="2273313" w="1842676">
                  <a:moveTo>
                    <a:pt x="1428413" y="38122"/>
                  </a:moveTo>
                  <a:cubicBezTo>
                    <a:pt x="1406714" y="13865"/>
                    <a:pt x="1375709" y="0"/>
                    <a:pt x="1257238"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1662539"/>
                  </a:lnTo>
                  <a:cubicBezTo>
                    <a:pt x="0" y="1690678"/>
                    <a:pt x="10372" y="1717829"/>
                    <a:pt x="29133" y="1738801"/>
                  </a:cubicBezTo>
                  <a:lnTo>
                    <a:pt x="248999" y="1984585"/>
                  </a:lnTo>
                  <a:cubicBezTo>
                    <a:pt x="270698" y="2008842"/>
                    <a:pt x="301704" y="2022706"/>
                    <a:pt x="334250" y="2022706"/>
                  </a:cubicBezTo>
                  <a:lnTo>
                    <a:pt x="587615" y="2022706"/>
                  </a:lnTo>
                  <a:cubicBezTo>
                    <a:pt x="620162" y="2022706"/>
                    <a:pt x="651168" y="2036571"/>
                    <a:pt x="672868" y="2060829"/>
                  </a:cubicBezTo>
                  <a:lnTo>
                    <a:pt x="828844" y="2235191"/>
                  </a:lnTo>
                  <a:cubicBezTo>
                    <a:pt x="850543" y="2259448"/>
                    <a:pt x="881549" y="2273313"/>
                    <a:pt x="914095" y="2273313"/>
                  </a:cubicBezTo>
                  <a:lnTo>
                    <a:pt x="1728291" y="2273313"/>
                  </a:lnTo>
                  <a:cubicBezTo>
                    <a:pt x="1758628" y="2273313"/>
                    <a:pt x="1787722" y="2261262"/>
                    <a:pt x="1809173" y="2239811"/>
                  </a:cubicBezTo>
                  <a:cubicBezTo>
                    <a:pt x="1830625" y="2218360"/>
                    <a:pt x="1842676" y="2189266"/>
                    <a:pt x="1842676" y="2158929"/>
                  </a:cubicBezTo>
                  <a:lnTo>
                    <a:pt x="1842676" y="2022706"/>
                  </a:lnTo>
                  <a:lnTo>
                    <a:pt x="1842676" y="567445"/>
                  </a:lnTo>
                  <a:cubicBezTo>
                    <a:pt x="1842676" y="524794"/>
                    <a:pt x="1826954" y="483639"/>
                    <a:pt x="1798518" y="451851"/>
                  </a:cubicBezTo>
                  <a:close/>
                </a:path>
              </a:pathLst>
            </a:custGeom>
            <a:blipFill>
              <a:blip r:embed="rId7"/>
              <a:stretch>
                <a:fillRect l="0" t="-4037" r="0" b="-4037"/>
              </a:stretch>
            </a:blipFill>
          </p:spPr>
        </p:sp>
      </p:grpSp>
      <p:grpSp>
        <p:nvGrpSpPr>
          <p:cNvPr name="Group 22" id="22"/>
          <p:cNvGrpSpPr/>
          <p:nvPr/>
        </p:nvGrpSpPr>
        <p:grpSpPr>
          <a:xfrm rot="0">
            <a:off x="9753600" y="7245032"/>
            <a:ext cx="3527626" cy="1028700"/>
            <a:chOff x="0" y="0"/>
            <a:chExt cx="929087" cy="270933"/>
          </a:xfrm>
        </p:grpSpPr>
        <p:sp>
          <p:nvSpPr>
            <p:cNvPr name="Freeform 23" id="23"/>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7CA4FD"/>
            </a:solidFill>
          </p:spPr>
        </p:sp>
        <p:sp>
          <p:nvSpPr>
            <p:cNvPr name="TextBox 24" id="24"/>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25" id="25"/>
          <p:cNvGrpSpPr/>
          <p:nvPr/>
        </p:nvGrpSpPr>
        <p:grpSpPr>
          <a:xfrm rot="0">
            <a:off x="14106898" y="3044507"/>
            <a:ext cx="3095482" cy="3818902"/>
            <a:chOff x="0" y="0"/>
            <a:chExt cx="1842676" cy="2273313"/>
          </a:xfrm>
        </p:grpSpPr>
        <p:sp>
          <p:nvSpPr>
            <p:cNvPr name="Freeform 26" id="26"/>
            <p:cNvSpPr/>
            <p:nvPr/>
          </p:nvSpPr>
          <p:spPr>
            <a:xfrm flipH="false" flipV="false" rot="0">
              <a:off x="0" y="0"/>
              <a:ext cx="1842676" cy="2273313"/>
            </a:xfrm>
            <a:custGeom>
              <a:avLst/>
              <a:gdLst/>
              <a:ahLst/>
              <a:cxnLst/>
              <a:rect r="r" b="b" t="t" l="l"/>
              <a:pathLst>
                <a:path h="2273313" w="1842676">
                  <a:moveTo>
                    <a:pt x="1428413" y="38122"/>
                  </a:moveTo>
                  <a:cubicBezTo>
                    <a:pt x="1406714" y="13865"/>
                    <a:pt x="1375709" y="0"/>
                    <a:pt x="1257238"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1662539"/>
                  </a:lnTo>
                  <a:cubicBezTo>
                    <a:pt x="0" y="1690678"/>
                    <a:pt x="10372" y="1717829"/>
                    <a:pt x="29133" y="1738801"/>
                  </a:cubicBezTo>
                  <a:lnTo>
                    <a:pt x="248999" y="1984585"/>
                  </a:lnTo>
                  <a:cubicBezTo>
                    <a:pt x="270698" y="2008842"/>
                    <a:pt x="301704" y="2022706"/>
                    <a:pt x="334250" y="2022706"/>
                  </a:cubicBezTo>
                  <a:lnTo>
                    <a:pt x="587615" y="2022706"/>
                  </a:lnTo>
                  <a:cubicBezTo>
                    <a:pt x="620162" y="2022706"/>
                    <a:pt x="651168" y="2036571"/>
                    <a:pt x="672868" y="2060829"/>
                  </a:cubicBezTo>
                  <a:lnTo>
                    <a:pt x="828844" y="2235191"/>
                  </a:lnTo>
                  <a:cubicBezTo>
                    <a:pt x="850543" y="2259448"/>
                    <a:pt x="881549" y="2273313"/>
                    <a:pt x="914095" y="2273313"/>
                  </a:cubicBezTo>
                  <a:lnTo>
                    <a:pt x="1728291" y="2273313"/>
                  </a:lnTo>
                  <a:cubicBezTo>
                    <a:pt x="1758628" y="2273313"/>
                    <a:pt x="1787722" y="2261262"/>
                    <a:pt x="1809173" y="2239811"/>
                  </a:cubicBezTo>
                  <a:cubicBezTo>
                    <a:pt x="1830625" y="2218360"/>
                    <a:pt x="1842676" y="2189266"/>
                    <a:pt x="1842676" y="2158929"/>
                  </a:cubicBezTo>
                  <a:lnTo>
                    <a:pt x="1842676" y="2022706"/>
                  </a:lnTo>
                  <a:lnTo>
                    <a:pt x="1842676" y="567445"/>
                  </a:lnTo>
                  <a:cubicBezTo>
                    <a:pt x="1842676" y="524794"/>
                    <a:pt x="1826954" y="483639"/>
                    <a:pt x="1798518" y="451851"/>
                  </a:cubicBezTo>
                  <a:close/>
                </a:path>
              </a:pathLst>
            </a:custGeom>
            <a:blipFill>
              <a:blip r:embed="rId8"/>
              <a:stretch>
                <a:fillRect l="0" t="-4037" r="0" b="-4037"/>
              </a:stretch>
            </a:blipFill>
          </p:spPr>
        </p:sp>
      </p:grpSp>
      <p:grpSp>
        <p:nvGrpSpPr>
          <p:cNvPr name="Group 27" id="27"/>
          <p:cNvGrpSpPr/>
          <p:nvPr/>
        </p:nvGrpSpPr>
        <p:grpSpPr>
          <a:xfrm rot="0">
            <a:off x="13890826" y="7245032"/>
            <a:ext cx="3527626" cy="1028700"/>
            <a:chOff x="0" y="0"/>
            <a:chExt cx="929087" cy="270933"/>
          </a:xfrm>
        </p:grpSpPr>
        <p:sp>
          <p:nvSpPr>
            <p:cNvPr name="Freeform 28" id="28"/>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7CA4FD"/>
            </a:solidFill>
          </p:spPr>
        </p:sp>
        <p:sp>
          <p:nvSpPr>
            <p:cNvPr name="TextBox 29" id="29"/>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sp>
        <p:nvSpPr>
          <p:cNvPr name="TextBox 30" id="30"/>
          <p:cNvSpPr txBox="true"/>
          <p:nvPr/>
        </p:nvSpPr>
        <p:spPr>
          <a:xfrm rot="0">
            <a:off x="1453197" y="928004"/>
            <a:ext cx="4877313" cy="1125317"/>
          </a:xfrm>
          <a:prstGeom prst="rect">
            <a:avLst/>
          </a:prstGeom>
        </p:spPr>
        <p:txBody>
          <a:bodyPr anchor="t" rtlCol="false" tIns="0" lIns="0" bIns="0" rIns="0">
            <a:spAutoFit/>
          </a:bodyPr>
          <a:lstStyle/>
          <a:p>
            <a:pPr algn="l">
              <a:lnSpc>
                <a:spcPts val="8482"/>
              </a:lnSpc>
            </a:pPr>
            <a:r>
              <a:rPr lang="en-US" sz="8482" spc="-636">
                <a:solidFill>
                  <a:srgbClr val="283353"/>
                </a:solidFill>
                <a:latin typeface="Garet"/>
                <a:ea typeface="Garet"/>
                <a:cs typeface="Garet"/>
                <a:sym typeface="Garet"/>
              </a:rPr>
              <a:t>Our Team</a:t>
            </a:r>
          </a:p>
        </p:txBody>
      </p:sp>
      <p:sp>
        <p:nvSpPr>
          <p:cNvPr name="TextBox 31" id="31"/>
          <p:cNvSpPr txBox="true"/>
          <p:nvPr/>
        </p:nvSpPr>
        <p:spPr>
          <a:xfrm rot="0">
            <a:off x="2094339" y="7305357"/>
            <a:ext cx="2736435" cy="860426"/>
          </a:xfrm>
          <a:prstGeom prst="rect">
            <a:avLst/>
          </a:prstGeom>
        </p:spPr>
        <p:txBody>
          <a:bodyPr anchor="t" rtlCol="false" tIns="0" lIns="0" bIns="0" rIns="0">
            <a:spAutoFit/>
          </a:bodyPr>
          <a:lstStyle/>
          <a:p>
            <a:pPr algn="ctr">
              <a:lnSpc>
                <a:spcPts val="3499"/>
              </a:lnSpc>
            </a:pPr>
            <a:r>
              <a:rPr lang="en-US" sz="2499" spc="24">
                <a:solidFill>
                  <a:srgbClr val="F6F9FF"/>
                </a:solidFill>
                <a:latin typeface="Garet"/>
                <a:ea typeface="Garet"/>
                <a:cs typeface="Garet"/>
                <a:sym typeface="Garet"/>
              </a:rPr>
              <a:t>Nick Biega</a:t>
            </a:r>
          </a:p>
          <a:p>
            <a:pPr algn="ctr">
              <a:lnSpc>
                <a:spcPts val="3499"/>
              </a:lnSpc>
              <a:spcBef>
                <a:spcPct val="0"/>
              </a:spcBef>
            </a:pPr>
            <a:r>
              <a:rPr lang="en-US" sz="2499" spc="24">
                <a:solidFill>
                  <a:srgbClr val="F6F9FF"/>
                </a:solidFill>
                <a:latin typeface="Garet"/>
                <a:ea typeface="Garet"/>
                <a:cs typeface="Garet"/>
                <a:sym typeface="Garet"/>
              </a:rPr>
              <a:t>ECE</a:t>
            </a:r>
          </a:p>
        </p:txBody>
      </p:sp>
      <p:sp>
        <p:nvSpPr>
          <p:cNvPr name="TextBox 32" id="32"/>
          <p:cNvSpPr txBox="true"/>
          <p:nvPr/>
        </p:nvSpPr>
        <p:spPr>
          <a:xfrm rot="0">
            <a:off x="6011970" y="7305357"/>
            <a:ext cx="2736435" cy="860426"/>
          </a:xfrm>
          <a:prstGeom prst="rect">
            <a:avLst/>
          </a:prstGeom>
        </p:spPr>
        <p:txBody>
          <a:bodyPr anchor="t" rtlCol="false" tIns="0" lIns="0" bIns="0" rIns="0">
            <a:spAutoFit/>
          </a:bodyPr>
          <a:lstStyle/>
          <a:p>
            <a:pPr algn="ctr">
              <a:lnSpc>
                <a:spcPts val="3499"/>
              </a:lnSpc>
            </a:pPr>
            <a:r>
              <a:rPr lang="en-US" sz="2499" spc="24">
                <a:solidFill>
                  <a:srgbClr val="F6F9FF"/>
                </a:solidFill>
                <a:latin typeface="Garet"/>
                <a:ea typeface="Garet"/>
                <a:cs typeface="Garet"/>
                <a:sym typeface="Garet"/>
              </a:rPr>
              <a:t>Ethan Hau</a:t>
            </a:r>
          </a:p>
          <a:p>
            <a:pPr algn="ctr">
              <a:lnSpc>
                <a:spcPts val="3499"/>
              </a:lnSpc>
              <a:spcBef>
                <a:spcPct val="0"/>
              </a:spcBef>
            </a:pPr>
            <a:r>
              <a:rPr lang="en-US" sz="2499" spc="24">
                <a:solidFill>
                  <a:srgbClr val="F6F9FF"/>
                </a:solidFill>
                <a:latin typeface="Garet"/>
                <a:ea typeface="Garet"/>
                <a:cs typeface="Garet"/>
                <a:sym typeface="Garet"/>
              </a:rPr>
              <a:t>ECE</a:t>
            </a:r>
          </a:p>
        </p:txBody>
      </p:sp>
      <p:sp>
        <p:nvSpPr>
          <p:cNvPr name="TextBox 33" id="33"/>
          <p:cNvSpPr txBox="true"/>
          <p:nvPr/>
        </p:nvSpPr>
        <p:spPr>
          <a:xfrm rot="0">
            <a:off x="10149196" y="7305357"/>
            <a:ext cx="2736435" cy="860426"/>
          </a:xfrm>
          <a:prstGeom prst="rect">
            <a:avLst/>
          </a:prstGeom>
        </p:spPr>
        <p:txBody>
          <a:bodyPr anchor="t" rtlCol="false" tIns="0" lIns="0" bIns="0" rIns="0">
            <a:spAutoFit/>
          </a:bodyPr>
          <a:lstStyle/>
          <a:p>
            <a:pPr algn="ctr">
              <a:lnSpc>
                <a:spcPts val="3499"/>
              </a:lnSpc>
            </a:pPr>
            <a:r>
              <a:rPr lang="en-US" sz="2499" spc="24">
                <a:solidFill>
                  <a:srgbClr val="F6F9FF"/>
                </a:solidFill>
                <a:latin typeface="Garet"/>
                <a:ea typeface="Garet"/>
                <a:cs typeface="Garet"/>
                <a:sym typeface="Garet"/>
              </a:rPr>
              <a:t>Keisuke Kwong</a:t>
            </a:r>
          </a:p>
          <a:p>
            <a:pPr algn="ctr">
              <a:lnSpc>
                <a:spcPts val="3499"/>
              </a:lnSpc>
              <a:spcBef>
                <a:spcPct val="0"/>
              </a:spcBef>
            </a:pPr>
            <a:r>
              <a:rPr lang="en-US" sz="2499" spc="24">
                <a:solidFill>
                  <a:srgbClr val="F6F9FF"/>
                </a:solidFill>
                <a:latin typeface="Garet"/>
                <a:ea typeface="Garet"/>
                <a:cs typeface="Garet"/>
                <a:sym typeface="Garet"/>
              </a:rPr>
              <a:t>MechE</a:t>
            </a:r>
          </a:p>
        </p:txBody>
      </p:sp>
      <p:sp>
        <p:nvSpPr>
          <p:cNvPr name="TextBox 34" id="34"/>
          <p:cNvSpPr txBox="true"/>
          <p:nvPr/>
        </p:nvSpPr>
        <p:spPr>
          <a:xfrm rot="0">
            <a:off x="14290876" y="7305357"/>
            <a:ext cx="2736435" cy="860426"/>
          </a:xfrm>
          <a:prstGeom prst="rect">
            <a:avLst/>
          </a:prstGeom>
        </p:spPr>
        <p:txBody>
          <a:bodyPr anchor="t" rtlCol="false" tIns="0" lIns="0" bIns="0" rIns="0">
            <a:spAutoFit/>
          </a:bodyPr>
          <a:lstStyle/>
          <a:p>
            <a:pPr algn="ctr">
              <a:lnSpc>
                <a:spcPts val="3499"/>
              </a:lnSpc>
            </a:pPr>
            <a:r>
              <a:rPr lang="en-US" sz="2499" spc="24">
                <a:solidFill>
                  <a:srgbClr val="F6F9FF"/>
                </a:solidFill>
                <a:latin typeface="Garet"/>
                <a:ea typeface="Garet"/>
                <a:cs typeface="Garet"/>
                <a:sym typeface="Garet"/>
              </a:rPr>
              <a:t>Caleb Takiguchi</a:t>
            </a:r>
          </a:p>
          <a:p>
            <a:pPr algn="ctr">
              <a:lnSpc>
                <a:spcPts val="3499"/>
              </a:lnSpc>
              <a:spcBef>
                <a:spcPct val="0"/>
              </a:spcBef>
            </a:pPr>
            <a:r>
              <a:rPr lang="en-US" sz="2499" spc="24">
                <a:solidFill>
                  <a:srgbClr val="F6F9FF"/>
                </a:solidFill>
                <a:latin typeface="Garet"/>
                <a:ea typeface="Garet"/>
                <a:cs typeface="Garet"/>
                <a:sym typeface="Garet"/>
              </a:rPr>
              <a:t>BME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grpSp>
        <p:nvGrpSpPr>
          <p:cNvPr name="Group 2" id="2"/>
          <p:cNvGrpSpPr/>
          <p:nvPr/>
        </p:nvGrpSpPr>
        <p:grpSpPr>
          <a:xfrm rot="0">
            <a:off x="9159674" y="-323294"/>
            <a:ext cx="9451620" cy="6495494"/>
            <a:chOff x="0" y="0"/>
            <a:chExt cx="2489316" cy="1710747"/>
          </a:xfrm>
        </p:grpSpPr>
        <p:sp>
          <p:nvSpPr>
            <p:cNvPr name="Freeform 3" id="3"/>
            <p:cNvSpPr/>
            <p:nvPr/>
          </p:nvSpPr>
          <p:spPr>
            <a:xfrm flipH="false" flipV="false" rot="0">
              <a:off x="0" y="0"/>
              <a:ext cx="2489316" cy="1710747"/>
            </a:xfrm>
            <a:custGeom>
              <a:avLst/>
              <a:gdLst/>
              <a:ahLst/>
              <a:cxnLst/>
              <a:rect r="r" b="b" t="t" l="l"/>
              <a:pathLst>
                <a:path h="1710747" w="2489316">
                  <a:moveTo>
                    <a:pt x="28669" y="0"/>
                  </a:moveTo>
                  <a:lnTo>
                    <a:pt x="2460647" y="0"/>
                  </a:lnTo>
                  <a:cubicBezTo>
                    <a:pt x="2468250" y="0"/>
                    <a:pt x="2475542" y="3020"/>
                    <a:pt x="2480919" y="8397"/>
                  </a:cubicBezTo>
                  <a:cubicBezTo>
                    <a:pt x="2486295" y="13773"/>
                    <a:pt x="2489316" y="21065"/>
                    <a:pt x="2489316" y="28669"/>
                  </a:cubicBezTo>
                  <a:lnTo>
                    <a:pt x="2489316" y="1682079"/>
                  </a:lnTo>
                  <a:cubicBezTo>
                    <a:pt x="2489316" y="1689682"/>
                    <a:pt x="2486295" y="1696974"/>
                    <a:pt x="2480919" y="1702350"/>
                  </a:cubicBezTo>
                  <a:cubicBezTo>
                    <a:pt x="2475542" y="1707727"/>
                    <a:pt x="2468250" y="1710747"/>
                    <a:pt x="2460647" y="1710747"/>
                  </a:cubicBezTo>
                  <a:lnTo>
                    <a:pt x="28669" y="1710747"/>
                  </a:lnTo>
                  <a:cubicBezTo>
                    <a:pt x="21065" y="1710747"/>
                    <a:pt x="13773" y="1707727"/>
                    <a:pt x="8397" y="1702350"/>
                  </a:cubicBezTo>
                  <a:cubicBezTo>
                    <a:pt x="3020" y="1696974"/>
                    <a:pt x="0" y="1689682"/>
                    <a:pt x="0" y="1682079"/>
                  </a:cubicBezTo>
                  <a:lnTo>
                    <a:pt x="0" y="28669"/>
                  </a:lnTo>
                  <a:cubicBezTo>
                    <a:pt x="0" y="21065"/>
                    <a:pt x="3020" y="13773"/>
                    <a:pt x="8397" y="8397"/>
                  </a:cubicBezTo>
                  <a:cubicBezTo>
                    <a:pt x="13773" y="3020"/>
                    <a:pt x="21065" y="0"/>
                    <a:pt x="28669" y="0"/>
                  </a:cubicBezTo>
                  <a:close/>
                </a:path>
              </a:pathLst>
            </a:custGeom>
            <a:solidFill>
              <a:srgbClr val="7CA4FD"/>
            </a:solidFill>
          </p:spPr>
        </p:sp>
        <p:sp>
          <p:nvSpPr>
            <p:cNvPr name="TextBox 4" id="4"/>
            <p:cNvSpPr txBox="true"/>
            <p:nvPr/>
          </p:nvSpPr>
          <p:spPr>
            <a:xfrm>
              <a:off x="0" y="-38100"/>
              <a:ext cx="2489316" cy="1748847"/>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10188374" y="1028700"/>
            <a:ext cx="7070926" cy="4114800"/>
            <a:chOff x="0" y="0"/>
            <a:chExt cx="1754646" cy="1021085"/>
          </a:xfrm>
        </p:grpSpPr>
        <p:sp>
          <p:nvSpPr>
            <p:cNvPr name="Freeform 6" id="6"/>
            <p:cNvSpPr/>
            <p:nvPr/>
          </p:nvSpPr>
          <p:spPr>
            <a:xfrm flipH="false" flipV="false" rot="0">
              <a:off x="0" y="0"/>
              <a:ext cx="1754646" cy="1021080"/>
            </a:xfrm>
            <a:custGeom>
              <a:avLst/>
              <a:gdLst/>
              <a:ahLst/>
              <a:cxnLst/>
              <a:rect r="r" b="b" t="t" l="l"/>
              <a:pathLst>
                <a:path h="1021080" w="1754646">
                  <a:moveTo>
                    <a:pt x="965120" y="884770"/>
                  </a:moveTo>
                  <a:cubicBezTo>
                    <a:pt x="983327" y="864417"/>
                    <a:pt x="1009342" y="852784"/>
                    <a:pt x="1036650" y="852783"/>
                  </a:cubicBezTo>
                  <a:lnTo>
                    <a:pt x="1668381" y="853119"/>
                  </a:lnTo>
                  <a:cubicBezTo>
                    <a:pt x="1691256" y="853131"/>
                    <a:pt x="1713198" y="844053"/>
                    <a:pt x="1729377" y="827883"/>
                  </a:cubicBezTo>
                  <a:cubicBezTo>
                    <a:pt x="1745556" y="811712"/>
                    <a:pt x="1754646" y="789775"/>
                    <a:pt x="1754646" y="766901"/>
                  </a:cubicBezTo>
                  <a:lnTo>
                    <a:pt x="1754646" y="86219"/>
                  </a:lnTo>
                  <a:cubicBezTo>
                    <a:pt x="1754646" y="63352"/>
                    <a:pt x="1745562" y="41422"/>
                    <a:pt x="1729393" y="25253"/>
                  </a:cubicBezTo>
                  <a:cubicBezTo>
                    <a:pt x="1713224" y="9084"/>
                    <a:pt x="1691294" y="0"/>
                    <a:pt x="1668427" y="0"/>
                  </a:cubicBezTo>
                  <a:lnTo>
                    <a:pt x="303022" y="0"/>
                  </a:lnTo>
                  <a:cubicBezTo>
                    <a:pt x="278489" y="-1"/>
                    <a:pt x="255117" y="10450"/>
                    <a:pt x="238760" y="28735"/>
                  </a:cubicBezTo>
                  <a:lnTo>
                    <a:pt x="21960" y="271092"/>
                  </a:lnTo>
                  <a:cubicBezTo>
                    <a:pt x="7818" y="286900"/>
                    <a:pt x="0" y="307366"/>
                    <a:pt x="0" y="328576"/>
                  </a:cubicBezTo>
                  <a:lnTo>
                    <a:pt x="0" y="934867"/>
                  </a:lnTo>
                  <a:cubicBezTo>
                    <a:pt x="4" y="982482"/>
                    <a:pt x="38604" y="1021080"/>
                    <a:pt x="86219" y="1021080"/>
                  </a:cubicBezTo>
                  <a:lnTo>
                    <a:pt x="804624" y="1021080"/>
                  </a:lnTo>
                  <a:cubicBezTo>
                    <a:pt x="829157" y="1021081"/>
                    <a:pt x="852529" y="1010630"/>
                    <a:pt x="868886" y="992345"/>
                  </a:cubicBezTo>
                  <a:close/>
                </a:path>
              </a:pathLst>
            </a:custGeom>
            <a:blipFill>
              <a:blip r:embed="rId3"/>
              <a:stretch>
                <a:fillRect l="-8192" t="0" r="-8192" b="0"/>
              </a:stretch>
            </a:blipFill>
          </p:spPr>
        </p:sp>
      </p:grpSp>
      <p:sp>
        <p:nvSpPr>
          <p:cNvPr name="Freeform 7" id="7"/>
          <p:cNvSpPr/>
          <p:nvPr/>
        </p:nvSpPr>
        <p:spPr>
          <a:xfrm flipH="false" flipV="false" rot="0">
            <a:off x="16410305" y="4941285"/>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3779940" y="4595002"/>
            <a:ext cx="4076598" cy="1188787"/>
            <a:chOff x="0" y="0"/>
            <a:chExt cx="929087" cy="270933"/>
          </a:xfrm>
        </p:grpSpPr>
        <p:sp>
          <p:nvSpPr>
            <p:cNvPr name="Freeform 9" id="9"/>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0" id="10"/>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3779940" y="6332258"/>
            <a:ext cx="4076598" cy="1188787"/>
            <a:chOff x="0" y="0"/>
            <a:chExt cx="929087" cy="270933"/>
          </a:xfrm>
        </p:grpSpPr>
        <p:sp>
          <p:nvSpPr>
            <p:cNvPr name="Freeform 12" id="12"/>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3" id="13"/>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14" id="14"/>
          <p:cNvGrpSpPr/>
          <p:nvPr/>
        </p:nvGrpSpPr>
        <p:grpSpPr>
          <a:xfrm rot="0">
            <a:off x="3779940" y="8069513"/>
            <a:ext cx="4076598" cy="1188787"/>
            <a:chOff x="0" y="0"/>
            <a:chExt cx="929087" cy="270933"/>
          </a:xfrm>
        </p:grpSpPr>
        <p:sp>
          <p:nvSpPr>
            <p:cNvPr name="Freeform 15" id="15"/>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6" id="16"/>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17" id="17"/>
          <p:cNvGrpSpPr/>
          <p:nvPr/>
        </p:nvGrpSpPr>
        <p:grpSpPr>
          <a:xfrm rot="0">
            <a:off x="1028700" y="8303260"/>
            <a:ext cx="955040" cy="95504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CA4FD"/>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AutoShape 20" id="20"/>
          <p:cNvSpPr/>
          <p:nvPr/>
        </p:nvSpPr>
        <p:spPr>
          <a:xfrm>
            <a:off x="9144000" y="7793673"/>
            <a:ext cx="3723856" cy="0"/>
          </a:xfrm>
          <a:prstGeom prst="line">
            <a:avLst/>
          </a:prstGeom>
          <a:ln cap="flat" w="9525">
            <a:solidFill>
              <a:srgbClr val="283353"/>
            </a:solidFill>
            <a:prstDash val="solid"/>
            <a:headEnd type="none" len="sm" w="sm"/>
            <a:tailEnd type="none" len="sm" w="sm"/>
          </a:ln>
        </p:spPr>
      </p:sp>
      <p:sp>
        <p:nvSpPr>
          <p:cNvPr name="TextBox 21" id="21"/>
          <p:cNvSpPr txBox="true"/>
          <p:nvPr/>
        </p:nvSpPr>
        <p:spPr>
          <a:xfrm rot="0">
            <a:off x="962025" y="1047949"/>
            <a:ext cx="7134659" cy="1125317"/>
          </a:xfrm>
          <a:prstGeom prst="rect">
            <a:avLst/>
          </a:prstGeom>
        </p:spPr>
        <p:txBody>
          <a:bodyPr anchor="t" rtlCol="false" tIns="0" lIns="0" bIns="0" rIns="0">
            <a:spAutoFit/>
          </a:bodyPr>
          <a:lstStyle/>
          <a:p>
            <a:pPr algn="l">
              <a:lnSpc>
                <a:spcPts val="8482"/>
              </a:lnSpc>
            </a:pPr>
            <a:r>
              <a:rPr lang="en-US" sz="8482" spc="-636">
                <a:solidFill>
                  <a:srgbClr val="283353"/>
                </a:solidFill>
                <a:latin typeface="Garet"/>
                <a:ea typeface="Garet"/>
                <a:cs typeface="Garet"/>
                <a:sym typeface="Garet"/>
              </a:rPr>
              <a:t>The Problem</a:t>
            </a:r>
          </a:p>
        </p:txBody>
      </p:sp>
      <p:sp>
        <p:nvSpPr>
          <p:cNvPr name="TextBox 22" id="22"/>
          <p:cNvSpPr txBox="true"/>
          <p:nvPr/>
        </p:nvSpPr>
        <p:spPr>
          <a:xfrm rot="0">
            <a:off x="4191217" y="4722760"/>
            <a:ext cx="3162281" cy="885647"/>
          </a:xfrm>
          <a:prstGeom prst="rect">
            <a:avLst/>
          </a:prstGeom>
        </p:spPr>
        <p:txBody>
          <a:bodyPr anchor="t" rtlCol="false" tIns="0" lIns="0" bIns="0" rIns="0">
            <a:spAutoFit/>
          </a:bodyPr>
          <a:lstStyle/>
          <a:p>
            <a:pPr algn="ctr">
              <a:lnSpc>
                <a:spcPts val="3559"/>
              </a:lnSpc>
              <a:spcBef>
                <a:spcPct val="0"/>
              </a:spcBef>
            </a:pPr>
            <a:r>
              <a:rPr lang="en-US" sz="2542" spc="25">
                <a:solidFill>
                  <a:srgbClr val="F6F9FF"/>
                </a:solidFill>
                <a:latin typeface="Garet"/>
                <a:ea typeface="Garet"/>
                <a:cs typeface="Garet"/>
                <a:sym typeface="Garet"/>
              </a:rPr>
              <a:t>Prevalence of diabeties</a:t>
            </a:r>
          </a:p>
        </p:txBody>
      </p:sp>
      <p:sp>
        <p:nvSpPr>
          <p:cNvPr name="TextBox 23" id="23"/>
          <p:cNvSpPr txBox="true"/>
          <p:nvPr/>
        </p:nvSpPr>
        <p:spPr>
          <a:xfrm rot="0">
            <a:off x="4237099" y="6460015"/>
            <a:ext cx="3162281" cy="885647"/>
          </a:xfrm>
          <a:prstGeom prst="rect">
            <a:avLst/>
          </a:prstGeom>
        </p:spPr>
        <p:txBody>
          <a:bodyPr anchor="t" rtlCol="false" tIns="0" lIns="0" bIns="0" rIns="0">
            <a:spAutoFit/>
          </a:bodyPr>
          <a:lstStyle/>
          <a:p>
            <a:pPr algn="ctr">
              <a:lnSpc>
                <a:spcPts val="3559"/>
              </a:lnSpc>
              <a:spcBef>
                <a:spcPct val="0"/>
              </a:spcBef>
            </a:pPr>
            <a:r>
              <a:rPr lang="en-US" sz="2542" spc="25">
                <a:solidFill>
                  <a:srgbClr val="F6F9FF"/>
                </a:solidFill>
                <a:latin typeface="Garet"/>
                <a:ea typeface="Garet"/>
                <a:cs typeface="Garet"/>
                <a:sym typeface="Garet"/>
              </a:rPr>
              <a:t>Insulin treatments are not perfect</a:t>
            </a:r>
          </a:p>
        </p:txBody>
      </p:sp>
      <p:sp>
        <p:nvSpPr>
          <p:cNvPr name="TextBox 24" id="24"/>
          <p:cNvSpPr txBox="true"/>
          <p:nvPr/>
        </p:nvSpPr>
        <p:spPr>
          <a:xfrm rot="0">
            <a:off x="1103657" y="2278486"/>
            <a:ext cx="7642587" cy="1543051"/>
          </a:xfrm>
          <a:prstGeom prst="rect">
            <a:avLst/>
          </a:prstGeom>
        </p:spPr>
        <p:txBody>
          <a:bodyPr anchor="t" rtlCol="false" tIns="0" lIns="0" bIns="0" rIns="0">
            <a:spAutoFit/>
          </a:bodyPr>
          <a:lstStyle/>
          <a:p>
            <a:pPr algn="l">
              <a:lnSpc>
                <a:spcPts val="4199"/>
              </a:lnSpc>
              <a:spcBef>
                <a:spcPct val="0"/>
              </a:spcBef>
            </a:pPr>
            <a:r>
              <a:rPr lang="en-US" sz="2999" spc="-74">
                <a:solidFill>
                  <a:srgbClr val="000000"/>
                </a:solidFill>
                <a:latin typeface="Garet"/>
                <a:ea typeface="Garet"/>
                <a:cs typeface="Garet"/>
                <a:sym typeface="Garet"/>
              </a:rPr>
              <a:t>Current methods for detecting hypoglycemia are inconsistent, expensive, and invasive.</a:t>
            </a:r>
          </a:p>
        </p:txBody>
      </p:sp>
      <p:sp>
        <p:nvSpPr>
          <p:cNvPr name="TextBox 25" id="25"/>
          <p:cNvSpPr txBox="true"/>
          <p:nvPr/>
        </p:nvSpPr>
        <p:spPr>
          <a:xfrm rot="0">
            <a:off x="4237099" y="8220782"/>
            <a:ext cx="3162281" cy="885647"/>
          </a:xfrm>
          <a:prstGeom prst="rect">
            <a:avLst/>
          </a:prstGeom>
        </p:spPr>
        <p:txBody>
          <a:bodyPr anchor="t" rtlCol="false" tIns="0" lIns="0" bIns="0" rIns="0">
            <a:spAutoFit/>
          </a:bodyPr>
          <a:lstStyle/>
          <a:p>
            <a:pPr algn="ctr">
              <a:lnSpc>
                <a:spcPts val="3559"/>
              </a:lnSpc>
              <a:spcBef>
                <a:spcPct val="0"/>
              </a:spcBef>
            </a:pPr>
            <a:r>
              <a:rPr lang="en-US" sz="2542" spc="25">
                <a:solidFill>
                  <a:srgbClr val="F6F9FF"/>
                </a:solidFill>
                <a:latin typeface="Garet"/>
                <a:ea typeface="Garet"/>
                <a:cs typeface="Garet"/>
                <a:sym typeface="Garet"/>
              </a:rPr>
              <a:t>Accessibility for young kids</a:t>
            </a:r>
          </a:p>
        </p:txBody>
      </p:sp>
      <p:sp>
        <p:nvSpPr>
          <p:cNvPr name="TextBox 26" id="26"/>
          <p:cNvSpPr txBox="true"/>
          <p:nvPr/>
        </p:nvSpPr>
        <p:spPr>
          <a:xfrm rot="0">
            <a:off x="10188374" y="5327121"/>
            <a:ext cx="5827334" cy="276225"/>
          </a:xfrm>
          <a:prstGeom prst="rect">
            <a:avLst/>
          </a:prstGeom>
        </p:spPr>
        <p:txBody>
          <a:bodyPr anchor="t" rtlCol="false" tIns="0" lIns="0" bIns="0" rIns="0">
            <a:spAutoFit/>
          </a:bodyPr>
          <a:lstStyle/>
          <a:p>
            <a:pPr algn="l">
              <a:lnSpc>
                <a:spcPts val="2100"/>
              </a:lnSpc>
            </a:pPr>
            <a:r>
              <a:rPr lang="en-US" sz="1500" u="sng">
                <a:solidFill>
                  <a:srgbClr val="000000"/>
                </a:solidFill>
                <a:latin typeface="Arimo"/>
                <a:ea typeface="Arimo"/>
                <a:cs typeface="Arimo"/>
                <a:sym typeface="Arimo"/>
                <a:hlinkClick r:id="rId6" tooltip="https://www.diabetes.co.uk/insulin/diabetes-and-insulin-pens.html"/>
              </a:rPr>
              <a:t>https://www.diabetes.co.uk/insulin/diabetes-and-insulin-pens.html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47750"/>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87731" y="4372748"/>
            <a:ext cx="19444412" cy="7185974"/>
            <a:chOff x="0" y="0"/>
            <a:chExt cx="5121162" cy="1892602"/>
          </a:xfrm>
        </p:grpSpPr>
        <p:sp>
          <p:nvSpPr>
            <p:cNvPr name="Freeform 4" id="4"/>
            <p:cNvSpPr/>
            <p:nvPr/>
          </p:nvSpPr>
          <p:spPr>
            <a:xfrm flipH="false" flipV="false" rot="0">
              <a:off x="0" y="0"/>
              <a:ext cx="5121162" cy="1892602"/>
            </a:xfrm>
            <a:custGeom>
              <a:avLst/>
              <a:gdLst/>
              <a:ahLst/>
              <a:cxnLst/>
              <a:rect r="r" b="b" t="t" l="l"/>
              <a:pathLst>
                <a:path h="1892602" w="5121162">
                  <a:moveTo>
                    <a:pt x="13935" y="0"/>
                  </a:moveTo>
                  <a:lnTo>
                    <a:pt x="5107227" y="0"/>
                  </a:lnTo>
                  <a:cubicBezTo>
                    <a:pt x="5114923" y="0"/>
                    <a:pt x="5121162" y="6239"/>
                    <a:pt x="5121162" y="13935"/>
                  </a:cubicBezTo>
                  <a:lnTo>
                    <a:pt x="5121162" y="1878667"/>
                  </a:lnTo>
                  <a:cubicBezTo>
                    <a:pt x="5121162" y="1886363"/>
                    <a:pt x="5114923" y="1892602"/>
                    <a:pt x="5107227" y="1892602"/>
                  </a:cubicBezTo>
                  <a:lnTo>
                    <a:pt x="13935" y="1892602"/>
                  </a:lnTo>
                  <a:cubicBezTo>
                    <a:pt x="10240" y="1892602"/>
                    <a:pt x="6695" y="1891134"/>
                    <a:pt x="4082" y="1888521"/>
                  </a:cubicBezTo>
                  <a:cubicBezTo>
                    <a:pt x="1468" y="1885907"/>
                    <a:pt x="0" y="1882363"/>
                    <a:pt x="0" y="1878667"/>
                  </a:cubicBezTo>
                  <a:lnTo>
                    <a:pt x="0" y="13935"/>
                  </a:lnTo>
                  <a:cubicBezTo>
                    <a:pt x="0" y="6239"/>
                    <a:pt x="6239" y="0"/>
                    <a:pt x="13935" y="0"/>
                  </a:cubicBezTo>
                  <a:close/>
                </a:path>
              </a:pathLst>
            </a:custGeom>
            <a:solidFill>
              <a:srgbClr val="7CA4FD"/>
            </a:solidFill>
          </p:spPr>
        </p:sp>
        <p:sp>
          <p:nvSpPr>
            <p:cNvPr name="TextBox 5" id="5"/>
            <p:cNvSpPr txBox="true"/>
            <p:nvPr/>
          </p:nvSpPr>
          <p:spPr>
            <a:xfrm>
              <a:off x="0" y="-38100"/>
              <a:ext cx="5121162" cy="1930702"/>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0">
            <a:off x="975678" y="2114718"/>
            <a:ext cx="955040" cy="95504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30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9" id="9"/>
          <p:cNvSpPr txBox="true"/>
          <p:nvPr/>
        </p:nvSpPr>
        <p:spPr>
          <a:xfrm rot="0">
            <a:off x="2609811" y="3273261"/>
            <a:ext cx="3153037" cy="633413"/>
          </a:xfrm>
          <a:prstGeom prst="rect">
            <a:avLst/>
          </a:prstGeom>
        </p:spPr>
        <p:txBody>
          <a:bodyPr anchor="t" rtlCol="false" tIns="0" lIns="0" bIns="0" rIns="0">
            <a:spAutoFit/>
          </a:bodyPr>
          <a:lstStyle/>
          <a:p>
            <a:pPr algn="l">
              <a:lnSpc>
                <a:spcPts val="4919"/>
              </a:lnSpc>
            </a:pPr>
            <a:r>
              <a:rPr lang="en-US" sz="4099" spc="-102" b="true">
                <a:solidFill>
                  <a:srgbClr val="283353"/>
                </a:solidFill>
                <a:latin typeface="Garet Bold"/>
                <a:ea typeface="Garet Bold"/>
                <a:cs typeface="Garet Bold"/>
                <a:sym typeface="Garet Bold"/>
              </a:rPr>
              <a:t>HypoAlert</a:t>
            </a:r>
          </a:p>
        </p:txBody>
      </p:sp>
      <p:sp>
        <p:nvSpPr>
          <p:cNvPr name="TextBox 10" id="10"/>
          <p:cNvSpPr txBox="true"/>
          <p:nvPr/>
        </p:nvSpPr>
        <p:spPr>
          <a:xfrm rot="0">
            <a:off x="2609811" y="1878668"/>
            <a:ext cx="8115300" cy="1141908"/>
          </a:xfrm>
          <a:prstGeom prst="rect">
            <a:avLst/>
          </a:prstGeom>
        </p:spPr>
        <p:txBody>
          <a:bodyPr anchor="t" rtlCol="false" tIns="0" lIns="0" bIns="0" rIns="0">
            <a:spAutoFit/>
          </a:bodyPr>
          <a:lstStyle/>
          <a:p>
            <a:pPr algn="l">
              <a:lnSpc>
                <a:spcPts val="8582"/>
              </a:lnSpc>
            </a:pPr>
            <a:r>
              <a:rPr lang="en-US" sz="8582" spc="-643">
                <a:solidFill>
                  <a:srgbClr val="283353"/>
                </a:solidFill>
                <a:latin typeface="Garet"/>
                <a:ea typeface="Garet"/>
                <a:cs typeface="Garet"/>
                <a:sym typeface="Garet"/>
              </a:rPr>
              <a:t>Our Solution</a:t>
            </a:r>
          </a:p>
        </p:txBody>
      </p:sp>
      <p:sp>
        <p:nvSpPr>
          <p:cNvPr name="TextBox 11" id="11"/>
          <p:cNvSpPr txBox="true"/>
          <p:nvPr/>
        </p:nvSpPr>
        <p:spPr>
          <a:xfrm rot="0">
            <a:off x="410834" y="4582209"/>
            <a:ext cx="9211995" cy="5362575"/>
          </a:xfrm>
          <a:prstGeom prst="rect">
            <a:avLst/>
          </a:prstGeom>
        </p:spPr>
        <p:txBody>
          <a:bodyPr anchor="t" rtlCol="false" tIns="0" lIns="0" bIns="0" rIns="0">
            <a:spAutoFit/>
          </a:bodyPr>
          <a:lstStyle/>
          <a:p>
            <a:pPr algn="l">
              <a:lnSpc>
                <a:spcPts val="3599"/>
              </a:lnSpc>
            </a:pPr>
            <a:r>
              <a:rPr lang="en-US" sz="2999" spc="-74">
                <a:solidFill>
                  <a:srgbClr val="F6F9FF"/>
                </a:solidFill>
                <a:latin typeface="Garet"/>
                <a:ea typeface="Garet"/>
                <a:cs typeface="Garet"/>
                <a:sym typeface="Garet"/>
              </a:rPr>
              <a:t>Features:</a:t>
            </a:r>
          </a:p>
          <a:p>
            <a:pPr algn="l" marL="647695" indent="-323848" lvl="1">
              <a:lnSpc>
                <a:spcPts val="3599"/>
              </a:lnSpc>
              <a:buFont typeface="Arial"/>
              <a:buChar char="•"/>
            </a:pPr>
            <a:r>
              <a:rPr lang="en-US" sz="2999" spc="-74">
                <a:solidFill>
                  <a:srgbClr val="F6F9FF"/>
                </a:solidFill>
                <a:latin typeface="Garet"/>
                <a:ea typeface="Garet"/>
                <a:cs typeface="Garet"/>
                <a:sym typeface="Garet"/>
              </a:rPr>
              <a:t>Integrated sensors</a:t>
            </a:r>
          </a:p>
          <a:p>
            <a:pPr algn="l" marL="1295390" indent="-431797" lvl="2">
              <a:lnSpc>
                <a:spcPts val="3599"/>
              </a:lnSpc>
              <a:buFont typeface="Arial"/>
              <a:buChar char="⚬"/>
            </a:pPr>
            <a:r>
              <a:rPr lang="en-US" sz="2999" spc="-74">
                <a:solidFill>
                  <a:srgbClr val="F6F9FF"/>
                </a:solidFill>
                <a:latin typeface="Garet"/>
                <a:ea typeface="Garet"/>
                <a:cs typeface="Garet"/>
                <a:sym typeface="Garet"/>
              </a:rPr>
              <a:t>Heartbeat</a:t>
            </a:r>
          </a:p>
          <a:p>
            <a:pPr algn="l" marL="1295390" indent="-431797" lvl="2">
              <a:lnSpc>
                <a:spcPts val="3599"/>
              </a:lnSpc>
              <a:buFont typeface="Arial"/>
              <a:buChar char="⚬"/>
            </a:pPr>
            <a:r>
              <a:rPr lang="en-US" sz="2999" spc="-74">
                <a:solidFill>
                  <a:srgbClr val="F6F9FF"/>
                </a:solidFill>
                <a:latin typeface="Garet"/>
                <a:ea typeface="Garet"/>
                <a:cs typeface="Garet"/>
                <a:sym typeface="Garet"/>
              </a:rPr>
              <a:t>Temperature</a:t>
            </a:r>
          </a:p>
          <a:p>
            <a:pPr algn="l" marL="1295390" indent="-431797" lvl="2">
              <a:lnSpc>
                <a:spcPts val="3599"/>
              </a:lnSpc>
              <a:buFont typeface="Arial"/>
              <a:buChar char="⚬"/>
            </a:pPr>
            <a:r>
              <a:rPr lang="en-US" sz="2999" spc="-74">
                <a:solidFill>
                  <a:srgbClr val="F6F9FF"/>
                </a:solidFill>
                <a:latin typeface="Garet"/>
                <a:ea typeface="Garet"/>
                <a:cs typeface="Garet"/>
                <a:sym typeface="Garet"/>
              </a:rPr>
              <a:t>Sweat</a:t>
            </a:r>
          </a:p>
          <a:p>
            <a:pPr algn="l" marL="1295390" indent="-431797" lvl="2">
              <a:lnSpc>
                <a:spcPts val="3599"/>
              </a:lnSpc>
              <a:buFont typeface="Arial"/>
              <a:buChar char="⚬"/>
            </a:pPr>
            <a:r>
              <a:rPr lang="en-US" sz="2999" spc="-74">
                <a:solidFill>
                  <a:srgbClr val="F6F9FF"/>
                </a:solidFill>
                <a:latin typeface="Garet"/>
                <a:ea typeface="Garet"/>
                <a:cs typeface="Garet"/>
                <a:sym typeface="Garet"/>
              </a:rPr>
              <a:t>Tremors</a:t>
            </a:r>
          </a:p>
          <a:p>
            <a:pPr algn="l" marL="647695" indent="-323848" lvl="1">
              <a:lnSpc>
                <a:spcPts val="3599"/>
              </a:lnSpc>
              <a:buFont typeface="Arial"/>
              <a:buChar char="•"/>
            </a:pPr>
            <a:r>
              <a:rPr lang="en-US" sz="2999" spc="-74">
                <a:solidFill>
                  <a:srgbClr val="F6F9FF"/>
                </a:solidFill>
                <a:latin typeface="Garet"/>
                <a:ea typeface="Garet"/>
                <a:cs typeface="Garet"/>
                <a:sym typeface="Garet"/>
              </a:rPr>
              <a:t>Light, non-invasive design</a:t>
            </a:r>
          </a:p>
          <a:p>
            <a:pPr algn="l" marL="1295390" indent="-431797" lvl="2">
              <a:lnSpc>
                <a:spcPts val="3599"/>
              </a:lnSpc>
              <a:buFont typeface="Arial"/>
              <a:buChar char="⚬"/>
            </a:pPr>
            <a:r>
              <a:rPr lang="en-US" sz="2999" spc="-74">
                <a:solidFill>
                  <a:srgbClr val="F6F9FF"/>
                </a:solidFill>
                <a:latin typeface="Garet"/>
                <a:ea typeface="Garet"/>
                <a:cs typeface="Garet"/>
                <a:sym typeface="Garet"/>
              </a:rPr>
              <a:t>Easy-wear, lightweight cuff</a:t>
            </a:r>
          </a:p>
          <a:p>
            <a:pPr algn="l" marL="1295390" indent="-431797" lvl="2">
              <a:lnSpc>
                <a:spcPts val="3599"/>
              </a:lnSpc>
              <a:buFont typeface="Arial"/>
              <a:buChar char="⚬"/>
            </a:pPr>
            <a:r>
              <a:rPr lang="en-US" sz="2999" spc="-74">
                <a:solidFill>
                  <a:srgbClr val="F6F9FF"/>
                </a:solidFill>
                <a:latin typeface="Garet"/>
                <a:ea typeface="Garet"/>
                <a:cs typeface="Garet"/>
                <a:sym typeface="Garet"/>
              </a:rPr>
              <a:t>Child-friendly clasp</a:t>
            </a:r>
          </a:p>
          <a:p>
            <a:pPr algn="l" marL="647695" indent="-323848" lvl="1">
              <a:lnSpc>
                <a:spcPts val="3599"/>
              </a:lnSpc>
              <a:buFont typeface="Arial"/>
              <a:buChar char="•"/>
            </a:pPr>
            <a:r>
              <a:rPr lang="en-US" sz="2999" spc="-74">
                <a:solidFill>
                  <a:srgbClr val="F6F9FF"/>
                </a:solidFill>
                <a:latin typeface="Garet"/>
                <a:ea typeface="Garet"/>
                <a:cs typeface="Garet"/>
                <a:sym typeface="Garet"/>
              </a:rPr>
              <a:t>Real, constant data and feedback</a:t>
            </a:r>
          </a:p>
          <a:p>
            <a:pPr algn="l" marL="1295390" indent="-431797" lvl="2">
              <a:lnSpc>
                <a:spcPts val="3599"/>
              </a:lnSpc>
              <a:buFont typeface="Arial"/>
              <a:buChar char="⚬"/>
            </a:pPr>
            <a:r>
              <a:rPr lang="en-US" sz="2999" spc="-74">
                <a:solidFill>
                  <a:srgbClr val="F6F9FF"/>
                </a:solidFill>
                <a:latin typeface="Garet"/>
                <a:ea typeface="Garet"/>
                <a:cs typeface="Garet"/>
                <a:sym typeface="Garet"/>
              </a:rPr>
              <a:t>Monitors 24/7</a:t>
            </a:r>
          </a:p>
          <a:p>
            <a:pPr algn="l" marL="1295390" indent="-431797" lvl="2">
              <a:lnSpc>
                <a:spcPts val="3599"/>
              </a:lnSpc>
              <a:buFont typeface="Arial"/>
              <a:buChar char="⚬"/>
            </a:pPr>
            <a:r>
              <a:rPr lang="en-US" sz="2999" spc="-74">
                <a:solidFill>
                  <a:srgbClr val="F6F9FF"/>
                </a:solidFill>
                <a:latin typeface="Garet"/>
                <a:ea typeface="Garet"/>
                <a:cs typeface="Garet"/>
                <a:sym typeface="Garet"/>
              </a:rPr>
              <a:t>Gives alerts when changes are detected</a:t>
            </a:r>
          </a:p>
        </p:txBody>
      </p:sp>
      <p:grpSp>
        <p:nvGrpSpPr>
          <p:cNvPr name="Group 12" id="12"/>
          <p:cNvGrpSpPr/>
          <p:nvPr/>
        </p:nvGrpSpPr>
        <p:grpSpPr>
          <a:xfrm rot="0">
            <a:off x="9144000" y="608824"/>
            <a:ext cx="8768670" cy="9335960"/>
            <a:chOff x="0" y="0"/>
            <a:chExt cx="2135177" cy="2273313"/>
          </a:xfrm>
        </p:grpSpPr>
        <p:sp>
          <p:nvSpPr>
            <p:cNvPr name="Freeform 13" id="13"/>
            <p:cNvSpPr/>
            <p:nvPr/>
          </p:nvSpPr>
          <p:spPr>
            <a:xfrm flipH="false" flipV="false" rot="0">
              <a:off x="0" y="0"/>
              <a:ext cx="2135177" cy="2273313"/>
            </a:xfrm>
            <a:custGeom>
              <a:avLst/>
              <a:gdLst/>
              <a:ahLst/>
              <a:cxnLst/>
              <a:rect r="r" b="b" t="t" l="l"/>
              <a:pathLst>
                <a:path h="2273313" w="2135177">
                  <a:moveTo>
                    <a:pt x="1720915" y="38122"/>
                  </a:moveTo>
                  <a:cubicBezTo>
                    <a:pt x="1699215" y="13865"/>
                    <a:pt x="1668210" y="0"/>
                    <a:pt x="1483955"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1662539"/>
                  </a:lnTo>
                  <a:cubicBezTo>
                    <a:pt x="0" y="1690678"/>
                    <a:pt x="10372" y="1717829"/>
                    <a:pt x="29133" y="1738801"/>
                  </a:cubicBezTo>
                  <a:lnTo>
                    <a:pt x="248999" y="1984585"/>
                  </a:lnTo>
                  <a:cubicBezTo>
                    <a:pt x="270698" y="2008842"/>
                    <a:pt x="301704" y="2022706"/>
                    <a:pt x="334250" y="2022706"/>
                  </a:cubicBezTo>
                  <a:lnTo>
                    <a:pt x="587615" y="2022706"/>
                  </a:lnTo>
                  <a:cubicBezTo>
                    <a:pt x="620162" y="2022706"/>
                    <a:pt x="651168" y="2036571"/>
                    <a:pt x="672868" y="2060829"/>
                  </a:cubicBezTo>
                  <a:lnTo>
                    <a:pt x="828844" y="2235191"/>
                  </a:lnTo>
                  <a:cubicBezTo>
                    <a:pt x="850543" y="2259448"/>
                    <a:pt x="881549" y="2273313"/>
                    <a:pt x="914095" y="2273313"/>
                  </a:cubicBezTo>
                  <a:lnTo>
                    <a:pt x="2020792" y="2273313"/>
                  </a:lnTo>
                  <a:cubicBezTo>
                    <a:pt x="2051129" y="2273313"/>
                    <a:pt x="2080223" y="2261262"/>
                    <a:pt x="2101675" y="2239811"/>
                  </a:cubicBezTo>
                  <a:cubicBezTo>
                    <a:pt x="2123126" y="2218360"/>
                    <a:pt x="2135177" y="2189266"/>
                    <a:pt x="2135177" y="2158929"/>
                  </a:cubicBezTo>
                  <a:lnTo>
                    <a:pt x="2135177" y="2022706"/>
                  </a:lnTo>
                  <a:lnTo>
                    <a:pt x="2135177" y="567445"/>
                  </a:lnTo>
                  <a:cubicBezTo>
                    <a:pt x="2135177" y="524794"/>
                    <a:pt x="2119456" y="483639"/>
                    <a:pt x="2091019" y="451851"/>
                  </a:cubicBezTo>
                  <a:close/>
                </a:path>
              </a:pathLst>
            </a:custGeom>
            <a:blipFill>
              <a:blip r:embed="rId5"/>
              <a:stretch>
                <a:fillRect l="-20585" t="0" r="-7497" b="0"/>
              </a:stretch>
            </a:blipFill>
          </p:spPr>
        </p:sp>
      </p:grpSp>
      <p:sp>
        <p:nvSpPr>
          <p:cNvPr name="AutoShape 14" id="14"/>
          <p:cNvSpPr/>
          <p:nvPr/>
        </p:nvSpPr>
        <p:spPr>
          <a:xfrm>
            <a:off x="2609811" y="3074520"/>
            <a:ext cx="5992762" cy="0"/>
          </a:xfrm>
          <a:prstGeom prst="line">
            <a:avLst/>
          </a:prstGeom>
          <a:ln cap="flat" w="9525">
            <a:solidFill>
              <a:srgbClr val="283353"/>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CA4FD"/>
        </a:solidFill>
      </p:bgPr>
    </p:bg>
    <p:spTree>
      <p:nvGrpSpPr>
        <p:cNvPr id="1" name=""/>
        <p:cNvGrpSpPr/>
        <p:nvPr/>
      </p:nvGrpSpPr>
      <p:grpSpPr>
        <a:xfrm>
          <a:off x="0" y="0"/>
          <a:ext cx="0" cy="0"/>
          <a:chOff x="0" y="0"/>
          <a:chExt cx="0" cy="0"/>
        </a:xfrm>
      </p:grpSpPr>
      <p:grpSp>
        <p:nvGrpSpPr>
          <p:cNvPr name="Group 2" id="2"/>
          <p:cNvGrpSpPr/>
          <p:nvPr/>
        </p:nvGrpSpPr>
        <p:grpSpPr>
          <a:xfrm rot="0">
            <a:off x="-3378254" y="5578258"/>
            <a:ext cx="22183666" cy="5044073"/>
            <a:chOff x="0" y="0"/>
            <a:chExt cx="5842612" cy="1328480"/>
          </a:xfrm>
        </p:grpSpPr>
        <p:sp>
          <p:nvSpPr>
            <p:cNvPr name="Freeform 3" id="3"/>
            <p:cNvSpPr/>
            <p:nvPr/>
          </p:nvSpPr>
          <p:spPr>
            <a:xfrm flipH="false" flipV="false" rot="0">
              <a:off x="0" y="0"/>
              <a:ext cx="5842612" cy="1328480"/>
            </a:xfrm>
            <a:custGeom>
              <a:avLst/>
              <a:gdLst/>
              <a:ahLst/>
              <a:cxnLst/>
              <a:rect r="r" b="b" t="t" l="l"/>
              <a:pathLst>
                <a:path h="1328480" w="5842612">
                  <a:moveTo>
                    <a:pt x="12215" y="0"/>
                  </a:moveTo>
                  <a:lnTo>
                    <a:pt x="5830397" y="0"/>
                  </a:lnTo>
                  <a:cubicBezTo>
                    <a:pt x="5833637" y="0"/>
                    <a:pt x="5836743" y="1287"/>
                    <a:pt x="5839034" y="3578"/>
                  </a:cubicBezTo>
                  <a:cubicBezTo>
                    <a:pt x="5841325" y="5868"/>
                    <a:pt x="5842612" y="8975"/>
                    <a:pt x="5842612" y="12215"/>
                  </a:cubicBezTo>
                  <a:lnTo>
                    <a:pt x="5842612" y="1316265"/>
                  </a:lnTo>
                  <a:cubicBezTo>
                    <a:pt x="5842612" y="1319505"/>
                    <a:pt x="5841325" y="1322612"/>
                    <a:pt x="5839034" y="1324903"/>
                  </a:cubicBezTo>
                  <a:cubicBezTo>
                    <a:pt x="5836743" y="1327193"/>
                    <a:pt x="5833637" y="1328480"/>
                    <a:pt x="5830397" y="1328480"/>
                  </a:cubicBezTo>
                  <a:lnTo>
                    <a:pt x="12215" y="1328480"/>
                  </a:lnTo>
                  <a:cubicBezTo>
                    <a:pt x="5469" y="1328480"/>
                    <a:pt x="0" y="1323011"/>
                    <a:pt x="0" y="1316265"/>
                  </a:cubicBezTo>
                  <a:lnTo>
                    <a:pt x="0" y="12215"/>
                  </a:lnTo>
                  <a:cubicBezTo>
                    <a:pt x="0" y="8975"/>
                    <a:pt x="1287" y="5868"/>
                    <a:pt x="3578" y="3578"/>
                  </a:cubicBezTo>
                  <a:cubicBezTo>
                    <a:pt x="5868" y="1287"/>
                    <a:pt x="8975" y="0"/>
                    <a:pt x="12215" y="0"/>
                  </a:cubicBezTo>
                  <a:close/>
                </a:path>
              </a:pathLst>
            </a:custGeom>
            <a:solidFill>
              <a:srgbClr val="F6F9FF"/>
            </a:solidFill>
          </p:spPr>
        </p:sp>
        <p:sp>
          <p:nvSpPr>
            <p:cNvPr name="TextBox 4" id="4"/>
            <p:cNvSpPr txBox="true"/>
            <p:nvPr/>
          </p:nvSpPr>
          <p:spPr>
            <a:xfrm>
              <a:off x="0" y="-38100"/>
              <a:ext cx="5842612" cy="1366580"/>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5400000">
            <a:off x="1156830" y="2407770"/>
            <a:ext cx="6936717" cy="6850530"/>
            <a:chOff x="0" y="0"/>
            <a:chExt cx="1324398" cy="1307943"/>
          </a:xfrm>
        </p:grpSpPr>
        <p:sp>
          <p:nvSpPr>
            <p:cNvPr name="Freeform 6" id="6"/>
            <p:cNvSpPr/>
            <p:nvPr/>
          </p:nvSpPr>
          <p:spPr>
            <a:xfrm flipH="false" flipV="false" rot="4638000">
              <a:off x="4729" y="-111852"/>
              <a:ext cx="1417076" cy="1531647"/>
            </a:xfrm>
            <a:custGeom>
              <a:avLst/>
              <a:gdLst/>
              <a:ahLst/>
              <a:cxnLst/>
              <a:rect r="r" b="b" t="t" l="l"/>
              <a:pathLst>
                <a:path h="1531647" w="1417076">
                  <a:moveTo>
                    <a:pt x="53206" y="823316"/>
                  </a:moveTo>
                  <a:lnTo>
                    <a:pt x="205872" y="928246"/>
                  </a:lnTo>
                  <a:cubicBezTo>
                    <a:pt x="247219" y="956665"/>
                    <a:pt x="267099" y="1007391"/>
                    <a:pt x="256071" y="1056335"/>
                  </a:cubicBezTo>
                  <a:lnTo>
                    <a:pt x="219171" y="1220075"/>
                  </a:lnTo>
                  <a:cubicBezTo>
                    <a:pt x="204273" y="1286183"/>
                    <a:pt x="245787" y="1351851"/>
                    <a:pt x="311895" y="1366750"/>
                  </a:cubicBezTo>
                  <a:lnTo>
                    <a:pt x="1030160" y="1528618"/>
                  </a:lnTo>
                  <a:cubicBezTo>
                    <a:pt x="1096268" y="1543516"/>
                    <a:pt x="1161937" y="1502002"/>
                    <a:pt x="1176835" y="1435893"/>
                  </a:cubicBezTo>
                  <a:lnTo>
                    <a:pt x="1414047" y="383299"/>
                  </a:lnTo>
                  <a:cubicBezTo>
                    <a:pt x="1428945" y="317191"/>
                    <a:pt x="1387432" y="251523"/>
                    <a:pt x="1321324" y="236624"/>
                  </a:cubicBezTo>
                  <a:lnTo>
                    <a:pt x="284779" y="3028"/>
                  </a:lnTo>
                  <a:cubicBezTo>
                    <a:pt x="218671" y="-11869"/>
                    <a:pt x="153003" y="29644"/>
                    <a:pt x="138104" y="95752"/>
                  </a:cubicBezTo>
                  <a:lnTo>
                    <a:pt x="3008" y="695223"/>
                  </a:lnTo>
                  <a:cubicBezTo>
                    <a:pt x="-8022" y="744168"/>
                    <a:pt x="11858" y="794897"/>
                    <a:pt x="53206" y="823316"/>
                  </a:cubicBezTo>
                  <a:close/>
                </a:path>
              </a:pathLst>
            </a:custGeom>
            <a:blipFill>
              <a:blip r:embed="rId3"/>
              <a:stretch>
                <a:fillRect l="-5028" t="-16833" r="-1133" b="-14128"/>
              </a:stretch>
            </a:blipFill>
          </p:spPr>
        </p:sp>
      </p:grpSp>
      <p:grpSp>
        <p:nvGrpSpPr>
          <p:cNvPr name="Group 7" id="7"/>
          <p:cNvGrpSpPr/>
          <p:nvPr/>
        </p:nvGrpSpPr>
        <p:grpSpPr>
          <a:xfrm rot="0">
            <a:off x="1345759" y="6474789"/>
            <a:ext cx="955040" cy="9550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300"/>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Freeform 10" id="10"/>
          <p:cNvSpPr/>
          <p:nvPr/>
        </p:nvSpPr>
        <p:spPr>
          <a:xfrm flipH="false" flipV="false" rot="0">
            <a:off x="16410305" y="9056085"/>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1" id="11"/>
          <p:cNvSpPr/>
          <p:nvPr/>
        </p:nvSpPr>
        <p:spPr>
          <a:xfrm>
            <a:off x="9115042" y="2324967"/>
            <a:ext cx="4181858" cy="0"/>
          </a:xfrm>
          <a:prstGeom prst="line">
            <a:avLst/>
          </a:prstGeom>
          <a:ln cap="flat" w="9525">
            <a:solidFill>
              <a:srgbClr val="283353"/>
            </a:solidFill>
            <a:prstDash val="solid"/>
            <a:headEnd type="none" len="sm" w="sm"/>
            <a:tailEnd type="none" len="sm" w="sm"/>
          </a:ln>
        </p:spPr>
      </p:sp>
      <p:sp>
        <p:nvSpPr>
          <p:cNvPr name="TextBox 12" id="12"/>
          <p:cNvSpPr txBox="true"/>
          <p:nvPr/>
        </p:nvSpPr>
        <p:spPr>
          <a:xfrm rot="0">
            <a:off x="9115042" y="1011866"/>
            <a:ext cx="8144258" cy="1308339"/>
          </a:xfrm>
          <a:prstGeom prst="rect">
            <a:avLst/>
          </a:prstGeom>
        </p:spPr>
        <p:txBody>
          <a:bodyPr anchor="t" rtlCol="false" tIns="0" lIns="0" bIns="0" rIns="0">
            <a:spAutoFit/>
          </a:bodyPr>
          <a:lstStyle/>
          <a:p>
            <a:pPr algn="l">
              <a:lnSpc>
                <a:spcPts val="9876"/>
              </a:lnSpc>
            </a:pPr>
            <a:r>
              <a:rPr lang="en-US" sz="9876" spc="-740">
                <a:solidFill>
                  <a:srgbClr val="F6F9FF"/>
                </a:solidFill>
                <a:latin typeface="Garet"/>
                <a:ea typeface="Garet"/>
                <a:cs typeface="Garet"/>
                <a:sym typeface="Garet"/>
              </a:rPr>
              <a:t>Our MVP</a:t>
            </a:r>
          </a:p>
        </p:txBody>
      </p:sp>
      <p:grpSp>
        <p:nvGrpSpPr>
          <p:cNvPr name="Group 13" id="13"/>
          <p:cNvGrpSpPr/>
          <p:nvPr/>
        </p:nvGrpSpPr>
        <p:grpSpPr>
          <a:xfrm rot="0">
            <a:off x="9220302" y="3724129"/>
            <a:ext cx="4967948" cy="1188787"/>
            <a:chOff x="0" y="0"/>
            <a:chExt cx="1132232" cy="270933"/>
          </a:xfrm>
        </p:grpSpPr>
        <p:sp>
          <p:nvSpPr>
            <p:cNvPr name="Freeform 14" id="14"/>
            <p:cNvSpPr/>
            <p:nvPr/>
          </p:nvSpPr>
          <p:spPr>
            <a:xfrm flipH="false" flipV="false" rot="0">
              <a:off x="0" y="0"/>
              <a:ext cx="1132232" cy="270933"/>
            </a:xfrm>
            <a:custGeom>
              <a:avLst/>
              <a:gdLst/>
              <a:ahLst/>
              <a:cxnLst/>
              <a:rect r="r" b="b" t="t" l="l"/>
              <a:pathLst>
                <a:path h="270933" w="1132232">
                  <a:moveTo>
                    <a:pt x="135467" y="0"/>
                  </a:moveTo>
                  <a:lnTo>
                    <a:pt x="996765" y="0"/>
                  </a:lnTo>
                  <a:cubicBezTo>
                    <a:pt x="1032693" y="0"/>
                    <a:pt x="1067150" y="14272"/>
                    <a:pt x="1092555" y="39677"/>
                  </a:cubicBezTo>
                  <a:cubicBezTo>
                    <a:pt x="1117960" y="65082"/>
                    <a:pt x="1132232" y="99539"/>
                    <a:pt x="1132232" y="135467"/>
                  </a:cubicBezTo>
                  <a:lnTo>
                    <a:pt x="1132232" y="135467"/>
                  </a:lnTo>
                  <a:cubicBezTo>
                    <a:pt x="1132232" y="171395"/>
                    <a:pt x="1117960" y="205851"/>
                    <a:pt x="1092555" y="231256"/>
                  </a:cubicBezTo>
                  <a:cubicBezTo>
                    <a:pt x="1067150" y="256661"/>
                    <a:pt x="1032693" y="270933"/>
                    <a:pt x="996765"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5" id="15"/>
            <p:cNvSpPr txBox="true"/>
            <p:nvPr/>
          </p:nvSpPr>
          <p:spPr>
            <a:xfrm>
              <a:off x="0" y="-38100"/>
              <a:ext cx="1132232" cy="309033"/>
            </a:xfrm>
            <a:prstGeom prst="rect">
              <a:avLst/>
            </a:prstGeom>
          </p:spPr>
          <p:txBody>
            <a:bodyPr anchor="ctr" rtlCol="false" tIns="50800" lIns="50800" bIns="50800" rIns="50800"/>
            <a:lstStyle/>
            <a:p>
              <a:pPr algn="ctr">
                <a:lnSpc>
                  <a:spcPts val="3079"/>
                </a:lnSpc>
              </a:pPr>
            </a:p>
          </p:txBody>
        </p:sp>
      </p:grpSp>
      <p:grpSp>
        <p:nvGrpSpPr>
          <p:cNvPr name="Group 16" id="16"/>
          <p:cNvGrpSpPr/>
          <p:nvPr/>
        </p:nvGrpSpPr>
        <p:grpSpPr>
          <a:xfrm rot="0">
            <a:off x="9220302" y="5461384"/>
            <a:ext cx="4967948" cy="1188787"/>
            <a:chOff x="0" y="0"/>
            <a:chExt cx="1132232" cy="270933"/>
          </a:xfrm>
        </p:grpSpPr>
        <p:sp>
          <p:nvSpPr>
            <p:cNvPr name="Freeform 17" id="17"/>
            <p:cNvSpPr/>
            <p:nvPr/>
          </p:nvSpPr>
          <p:spPr>
            <a:xfrm flipH="false" flipV="false" rot="0">
              <a:off x="0" y="0"/>
              <a:ext cx="1132232" cy="270933"/>
            </a:xfrm>
            <a:custGeom>
              <a:avLst/>
              <a:gdLst/>
              <a:ahLst/>
              <a:cxnLst/>
              <a:rect r="r" b="b" t="t" l="l"/>
              <a:pathLst>
                <a:path h="270933" w="1132232">
                  <a:moveTo>
                    <a:pt x="135467" y="0"/>
                  </a:moveTo>
                  <a:lnTo>
                    <a:pt x="996765" y="0"/>
                  </a:lnTo>
                  <a:cubicBezTo>
                    <a:pt x="1032693" y="0"/>
                    <a:pt x="1067150" y="14272"/>
                    <a:pt x="1092555" y="39677"/>
                  </a:cubicBezTo>
                  <a:cubicBezTo>
                    <a:pt x="1117960" y="65082"/>
                    <a:pt x="1132232" y="99539"/>
                    <a:pt x="1132232" y="135467"/>
                  </a:cubicBezTo>
                  <a:lnTo>
                    <a:pt x="1132232" y="135467"/>
                  </a:lnTo>
                  <a:cubicBezTo>
                    <a:pt x="1132232" y="171395"/>
                    <a:pt x="1117960" y="205851"/>
                    <a:pt x="1092555" y="231256"/>
                  </a:cubicBezTo>
                  <a:cubicBezTo>
                    <a:pt x="1067150" y="256661"/>
                    <a:pt x="1032693" y="270933"/>
                    <a:pt x="996765"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8" id="18"/>
            <p:cNvSpPr txBox="true"/>
            <p:nvPr/>
          </p:nvSpPr>
          <p:spPr>
            <a:xfrm>
              <a:off x="0" y="-38100"/>
              <a:ext cx="1132232" cy="309033"/>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9220302" y="7198640"/>
            <a:ext cx="4967948" cy="1188787"/>
            <a:chOff x="0" y="0"/>
            <a:chExt cx="1132232" cy="270933"/>
          </a:xfrm>
        </p:grpSpPr>
        <p:sp>
          <p:nvSpPr>
            <p:cNvPr name="Freeform 20" id="20"/>
            <p:cNvSpPr/>
            <p:nvPr/>
          </p:nvSpPr>
          <p:spPr>
            <a:xfrm flipH="false" flipV="false" rot="0">
              <a:off x="0" y="0"/>
              <a:ext cx="1132232" cy="270933"/>
            </a:xfrm>
            <a:custGeom>
              <a:avLst/>
              <a:gdLst/>
              <a:ahLst/>
              <a:cxnLst/>
              <a:rect r="r" b="b" t="t" l="l"/>
              <a:pathLst>
                <a:path h="270933" w="1132232">
                  <a:moveTo>
                    <a:pt x="135467" y="0"/>
                  </a:moveTo>
                  <a:lnTo>
                    <a:pt x="996765" y="0"/>
                  </a:lnTo>
                  <a:cubicBezTo>
                    <a:pt x="1032693" y="0"/>
                    <a:pt x="1067150" y="14272"/>
                    <a:pt x="1092555" y="39677"/>
                  </a:cubicBezTo>
                  <a:cubicBezTo>
                    <a:pt x="1117960" y="65082"/>
                    <a:pt x="1132232" y="99539"/>
                    <a:pt x="1132232" y="135467"/>
                  </a:cubicBezTo>
                  <a:lnTo>
                    <a:pt x="1132232" y="135467"/>
                  </a:lnTo>
                  <a:cubicBezTo>
                    <a:pt x="1132232" y="171395"/>
                    <a:pt x="1117960" y="205851"/>
                    <a:pt x="1092555" y="231256"/>
                  </a:cubicBezTo>
                  <a:cubicBezTo>
                    <a:pt x="1067150" y="256661"/>
                    <a:pt x="1032693" y="270933"/>
                    <a:pt x="996765"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21" id="21"/>
            <p:cNvSpPr txBox="true"/>
            <p:nvPr/>
          </p:nvSpPr>
          <p:spPr>
            <a:xfrm>
              <a:off x="0" y="-38100"/>
              <a:ext cx="1132232" cy="309033"/>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631579" y="3851887"/>
            <a:ext cx="3965544" cy="885647"/>
          </a:xfrm>
          <a:prstGeom prst="rect">
            <a:avLst/>
          </a:prstGeom>
        </p:spPr>
        <p:txBody>
          <a:bodyPr anchor="t" rtlCol="false" tIns="0" lIns="0" bIns="0" rIns="0">
            <a:spAutoFit/>
          </a:bodyPr>
          <a:lstStyle/>
          <a:p>
            <a:pPr algn="ctr">
              <a:lnSpc>
                <a:spcPts val="3559"/>
              </a:lnSpc>
              <a:spcBef>
                <a:spcPct val="0"/>
              </a:spcBef>
            </a:pPr>
            <a:r>
              <a:rPr lang="en-US" sz="2542" spc="25">
                <a:solidFill>
                  <a:srgbClr val="F6F9FF"/>
                </a:solidFill>
                <a:latin typeface="Garet"/>
                <a:ea typeface="Garet"/>
                <a:cs typeface="Garet"/>
                <a:sym typeface="Garet"/>
              </a:rPr>
              <a:t>Easy-wear cuff with hinge and latch</a:t>
            </a:r>
          </a:p>
        </p:txBody>
      </p:sp>
      <p:sp>
        <p:nvSpPr>
          <p:cNvPr name="TextBox 23" id="23"/>
          <p:cNvSpPr txBox="true"/>
          <p:nvPr/>
        </p:nvSpPr>
        <p:spPr>
          <a:xfrm rot="0">
            <a:off x="9677461" y="5589142"/>
            <a:ext cx="3919662" cy="885647"/>
          </a:xfrm>
          <a:prstGeom prst="rect">
            <a:avLst/>
          </a:prstGeom>
        </p:spPr>
        <p:txBody>
          <a:bodyPr anchor="t" rtlCol="false" tIns="0" lIns="0" bIns="0" rIns="0">
            <a:spAutoFit/>
          </a:bodyPr>
          <a:lstStyle/>
          <a:p>
            <a:pPr algn="ctr">
              <a:lnSpc>
                <a:spcPts val="3559"/>
              </a:lnSpc>
              <a:spcBef>
                <a:spcPct val="0"/>
              </a:spcBef>
            </a:pPr>
            <a:r>
              <a:rPr lang="en-US" sz="2542" spc="25">
                <a:solidFill>
                  <a:srgbClr val="F6F9FF"/>
                </a:solidFill>
                <a:latin typeface="Garet"/>
                <a:ea typeface="Garet"/>
                <a:cs typeface="Garet"/>
                <a:sym typeface="Garet"/>
              </a:rPr>
              <a:t>Heart rate and skin temperature sensors</a:t>
            </a:r>
          </a:p>
        </p:txBody>
      </p:sp>
      <p:sp>
        <p:nvSpPr>
          <p:cNvPr name="TextBox 24" id="24"/>
          <p:cNvSpPr txBox="true"/>
          <p:nvPr/>
        </p:nvSpPr>
        <p:spPr>
          <a:xfrm rot="0">
            <a:off x="9677461" y="7368959"/>
            <a:ext cx="3808826" cy="885647"/>
          </a:xfrm>
          <a:prstGeom prst="rect">
            <a:avLst/>
          </a:prstGeom>
        </p:spPr>
        <p:txBody>
          <a:bodyPr anchor="t" rtlCol="false" tIns="0" lIns="0" bIns="0" rIns="0">
            <a:spAutoFit/>
          </a:bodyPr>
          <a:lstStyle/>
          <a:p>
            <a:pPr algn="ctr">
              <a:lnSpc>
                <a:spcPts val="3559"/>
              </a:lnSpc>
              <a:spcBef>
                <a:spcPct val="0"/>
              </a:spcBef>
            </a:pPr>
            <a:r>
              <a:rPr lang="en-US" sz="2542" spc="25">
                <a:solidFill>
                  <a:srgbClr val="F6F9FF"/>
                </a:solidFill>
                <a:latin typeface="Garet"/>
                <a:ea typeface="Garet"/>
                <a:cs typeface="Garet"/>
                <a:sym typeface="Garet"/>
              </a:rPr>
              <a:t>3D-printed wristband with OLED display</a:t>
            </a:r>
          </a:p>
        </p:txBody>
      </p:sp>
      <p:sp>
        <p:nvSpPr>
          <p:cNvPr name="TextBox 25" id="25"/>
          <p:cNvSpPr txBox="true"/>
          <p:nvPr/>
        </p:nvSpPr>
        <p:spPr>
          <a:xfrm rot="0">
            <a:off x="9115042" y="2538267"/>
            <a:ext cx="3153037" cy="633413"/>
          </a:xfrm>
          <a:prstGeom prst="rect">
            <a:avLst/>
          </a:prstGeom>
        </p:spPr>
        <p:txBody>
          <a:bodyPr anchor="t" rtlCol="false" tIns="0" lIns="0" bIns="0" rIns="0">
            <a:spAutoFit/>
          </a:bodyPr>
          <a:lstStyle/>
          <a:p>
            <a:pPr algn="l">
              <a:lnSpc>
                <a:spcPts val="4919"/>
              </a:lnSpc>
            </a:pPr>
            <a:r>
              <a:rPr lang="en-US" sz="4099" spc="-102" b="true">
                <a:solidFill>
                  <a:srgbClr val="283353"/>
                </a:solidFill>
                <a:latin typeface="Garet Bold"/>
                <a:ea typeface="Garet Bold"/>
                <a:cs typeface="Garet Bold"/>
                <a:sym typeface="Garet Bold"/>
              </a:rPr>
              <a:t>HypoAlert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grpSp>
        <p:nvGrpSpPr>
          <p:cNvPr name="Group 2" id="2"/>
          <p:cNvGrpSpPr/>
          <p:nvPr/>
        </p:nvGrpSpPr>
        <p:grpSpPr>
          <a:xfrm rot="0">
            <a:off x="-880886" y="-323294"/>
            <a:ext cx="5244913" cy="6088459"/>
            <a:chOff x="0" y="0"/>
            <a:chExt cx="1381376" cy="1603545"/>
          </a:xfrm>
        </p:grpSpPr>
        <p:sp>
          <p:nvSpPr>
            <p:cNvPr name="Freeform 3" id="3"/>
            <p:cNvSpPr/>
            <p:nvPr/>
          </p:nvSpPr>
          <p:spPr>
            <a:xfrm flipH="false" flipV="false" rot="0">
              <a:off x="0" y="0"/>
              <a:ext cx="1381376" cy="1603545"/>
            </a:xfrm>
            <a:custGeom>
              <a:avLst/>
              <a:gdLst/>
              <a:ahLst/>
              <a:cxnLst/>
              <a:rect r="r" b="b" t="t" l="l"/>
              <a:pathLst>
                <a:path h="1603545" w="1381376">
                  <a:moveTo>
                    <a:pt x="51663" y="0"/>
                  </a:moveTo>
                  <a:lnTo>
                    <a:pt x="1329714" y="0"/>
                  </a:lnTo>
                  <a:cubicBezTo>
                    <a:pt x="1358246" y="0"/>
                    <a:pt x="1381376" y="23130"/>
                    <a:pt x="1381376" y="51663"/>
                  </a:cubicBezTo>
                  <a:lnTo>
                    <a:pt x="1381376" y="1551882"/>
                  </a:lnTo>
                  <a:cubicBezTo>
                    <a:pt x="1381376" y="1580414"/>
                    <a:pt x="1358246" y="1603545"/>
                    <a:pt x="1329714" y="1603545"/>
                  </a:cubicBezTo>
                  <a:lnTo>
                    <a:pt x="51663" y="1603545"/>
                  </a:lnTo>
                  <a:cubicBezTo>
                    <a:pt x="23130" y="1603545"/>
                    <a:pt x="0" y="1580414"/>
                    <a:pt x="0" y="1551882"/>
                  </a:cubicBezTo>
                  <a:lnTo>
                    <a:pt x="0" y="51663"/>
                  </a:lnTo>
                  <a:cubicBezTo>
                    <a:pt x="0" y="23130"/>
                    <a:pt x="23130" y="0"/>
                    <a:pt x="51663" y="0"/>
                  </a:cubicBezTo>
                  <a:close/>
                </a:path>
              </a:pathLst>
            </a:custGeom>
            <a:solidFill>
              <a:srgbClr val="7CA4FD"/>
            </a:solidFill>
          </p:spPr>
        </p:sp>
        <p:sp>
          <p:nvSpPr>
            <p:cNvPr name="TextBox 4" id="4"/>
            <p:cNvSpPr txBox="true"/>
            <p:nvPr/>
          </p:nvSpPr>
          <p:spPr>
            <a:xfrm>
              <a:off x="0" y="-38100"/>
              <a:ext cx="1381376" cy="1641645"/>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912134" y="4062683"/>
            <a:ext cx="5846103" cy="6224317"/>
            <a:chOff x="0" y="0"/>
            <a:chExt cx="2135177" cy="2273313"/>
          </a:xfrm>
        </p:grpSpPr>
        <p:sp>
          <p:nvSpPr>
            <p:cNvPr name="Freeform 6" id="6"/>
            <p:cNvSpPr/>
            <p:nvPr/>
          </p:nvSpPr>
          <p:spPr>
            <a:xfrm flipH="false" flipV="false" rot="0">
              <a:off x="0" y="0"/>
              <a:ext cx="2135177" cy="2273313"/>
            </a:xfrm>
            <a:custGeom>
              <a:avLst/>
              <a:gdLst/>
              <a:ahLst/>
              <a:cxnLst/>
              <a:rect r="r" b="b" t="t" l="l"/>
              <a:pathLst>
                <a:path h="2273313" w="2135177">
                  <a:moveTo>
                    <a:pt x="1720915" y="38122"/>
                  </a:moveTo>
                  <a:cubicBezTo>
                    <a:pt x="1699215" y="13865"/>
                    <a:pt x="1668210" y="0"/>
                    <a:pt x="1483955" y="0"/>
                  </a:cubicBezTo>
                  <a:lnTo>
                    <a:pt x="528968" y="0"/>
                  </a:lnTo>
                  <a:cubicBezTo>
                    <a:pt x="465795" y="0"/>
                    <a:pt x="414584" y="51211"/>
                    <a:pt x="414584" y="114384"/>
                  </a:cubicBezTo>
                  <a:lnTo>
                    <a:pt x="414584" y="386829"/>
                  </a:lnTo>
                  <a:cubicBezTo>
                    <a:pt x="414584" y="417166"/>
                    <a:pt x="402533" y="446260"/>
                    <a:pt x="381081" y="467712"/>
                  </a:cubicBezTo>
                  <a:cubicBezTo>
                    <a:pt x="359630" y="489163"/>
                    <a:pt x="330536" y="501214"/>
                    <a:pt x="300199" y="501214"/>
                  </a:cubicBezTo>
                  <a:lnTo>
                    <a:pt x="114384" y="501214"/>
                  </a:lnTo>
                  <a:cubicBezTo>
                    <a:pt x="84047" y="501214"/>
                    <a:pt x="54953" y="513266"/>
                    <a:pt x="33502" y="534717"/>
                  </a:cubicBezTo>
                  <a:cubicBezTo>
                    <a:pt x="12051" y="556168"/>
                    <a:pt x="0" y="585262"/>
                    <a:pt x="0" y="615598"/>
                  </a:cubicBezTo>
                  <a:lnTo>
                    <a:pt x="0" y="1662539"/>
                  </a:lnTo>
                  <a:cubicBezTo>
                    <a:pt x="0" y="1690678"/>
                    <a:pt x="10372" y="1717829"/>
                    <a:pt x="29133" y="1738801"/>
                  </a:cubicBezTo>
                  <a:lnTo>
                    <a:pt x="248999" y="1984585"/>
                  </a:lnTo>
                  <a:cubicBezTo>
                    <a:pt x="270698" y="2008842"/>
                    <a:pt x="301704" y="2022706"/>
                    <a:pt x="334250" y="2022706"/>
                  </a:cubicBezTo>
                  <a:lnTo>
                    <a:pt x="587615" y="2022706"/>
                  </a:lnTo>
                  <a:cubicBezTo>
                    <a:pt x="620162" y="2022706"/>
                    <a:pt x="651168" y="2036571"/>
                    <a:pt x="672868" y="2060829"/>
                  </a:cubicBezTo>
                  <a:lnTo>
                    <a:pt x="828844" y="2235191"/>
                  </a:lnTo>
                  <a:cubicBezTo>
                    <a:pt x="850543" y="2259448"/>
                    <a:pt x="881549" y="2273313"/>
                    <a:pt x="914095" y="2273313"/>
                  </a:cubicBezTo>
                  <a:lnTo>
                    <a:pt x="2020792" y="2273313"/>
                  </a:lnTo>
                  <a:cubicBezTo>
                    <a:pt x="2051129" y="2273313"/>
                    <a:pt x="2080223" y="2261262"/>
                    <a:pt x="2101675" y="2239811"/>
                  </a:cubicBezTo>
                  <a:cubicBezTo>
                    <a:pt x="2123126" y="2218360"/>
                    <a:pt x="2135177" y="2189266"/>
                    <a:pt x="2135177" y="2158929"/>
                  </a:cubicBezTo>
                  <a:lnTo>
                    <a:pt x="2135177" y="2022706"/>
                  </a:lnTo>
                  <a:lnTo>
                    <a:pt x="2135177" y="567445"/>
                  </a:lnTo>
                  <a:cubicBezTo>
                    <a:pt x="2135177" y="524794"/>
                    <a:pt x="2119456" y="483639"/>
                    <a:pt x="2091019" y="451851"/>
                  </a:cubicBezTo>
                  <a:close/>
                </a:path>
              </a:pathLst>
            </a:custGeom>
            <a:blipFill>
              <a:blip r:embed="rId3"/>
              <a:stretch>
                <a:fillRect l="-20585" t="0" r="-7497" b="0"/>
              </a:stretch>
            </a:blipFill>
          </p:spPr>
        </p:sp>
      </p:grpSp>
      <p:grpSp>
        <p:nvGrpSpPr>
          <p:cNvPr name="Group 7" id="7"/>
          <p:cNvGrpSpPr/>
          <p:nvPr/>
        </p:nvGrpSpPr>
        <p:grpSpPr>
          <a:xfrm rot="0">
            <a:off x="16304260" y="1028700"/>
            <a:ext cx="955040" cy="95504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CA4FD"/>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10" id="10"/>
          <p:cNvGrpSpPr/>
          <p:nvPr/>
        </p:nvGrpSpPr>
        <p:grpSpPr>
          <a:xfrm rot="0">
            <a:off x="7404464" y="2256751"/>
            <a:ext cx="4847573" cy="1231174"/>
            <a:chOff x="0" y="0"/>
            <a:chExt cx="1066762" cy="270933"/>
          </a:xfrm>
        </p:grpSpPr>
        <p:sp>
          <p:nvSpPr>
            <p:cNvPr name="Freeform 11" id="11"/>
            <p:cNvSpPr/>
            <p:nvPr/>
          </p:nvSpPr>
          <p:spPr>
            <a:xfrm flipH="false" flipV="false" rot="0">
              <a:off x="0" y="0"/>
              <a:ext cx="1066762" cy="270933"/>
            </a:xfrm>
            <a:custGeom>
              <a:avLst/>
              <a:gdLst/>
              <a:ahLst/>
              <a:cxnLst/>
              <a:rect r="r" b="b" t="t" l="l"/>
              <a:pathLst>
                <a:path h="270933" w="1066762">
                  <a:moveTo>
                    <a:pt x="135467" y="0"/>
                  </a:moveTo>
                  <a:lnTo>
                    <a:pt x="931295" y="0"/>
                  </a:lnTo>
                  <a:cubicBezTo>
                    <a:pt x="967223" y="0"/>
                    <a:pt x="1001680" y="14272"/>
                    <a:pt x="1027085" y="39677"/>
                  </a:cubicBezTo>
                  <a:cubicBezTo>
                    <a:pt x="1052489" y="65082"/>
                    <a:pt x="1066762" y="99539"/>
                    <a:pt x="1066762" y="135467"/>
                  </a:cubicBezTo>
                  <a:lnTo>
                    <a:pt x="1066762" y="135467"/>
                  </a:lnTo>
                  <a:cubicBezTo>
                    <a:pt x="1066762" y="171395"/>
                    <a:pt x="1052489" y="205851"/>
                    <a:pt x="1027085" y="231256"/>
                  </a:cubicBezTo>
                  <a:cubicBezTo>
                    <a:pt x="1001680" y="256661"/>
                    <a:pt x="967223" y="270933"/>
                    <a:pt x="931295"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2" id="12"/>
            <p:cNvSpPr txBox="true"/>
            <p:nvPr/>
          </p:nvSpPr>
          <p:spPr>
            <a:xfrm>
              <a:off x="0" y="-38100"/>
              <a:ext cx="1066762" cy="309033"/>
            </a:xfrm>
            <a:prstGeom prst="rect">
              <a:avLst/>
            </a:prstGeom>
          </p:spPr>
          <p:txBody>
            <a:bodyPr anchor="ctr" rtlCol="false" tIns="50800" lIns="50800" bIns="50800" rIns="50800"/>
            <a:lstStyle/>
            <a:p>
              <a:pPr algn="ctr">
                <a:lnSpc>
                  <a:spcPts val="3079"/>
                </a:lnSpc>
              </a:pPr>
            </a:p>
          </p:txBody>
        </p:sp>
      </p:grpSp>
      <p:grpSp>
        <p:nvGrpSpPr>
          <p:cNvPr name="Group 13" id="13"/>
          <p:cNvGrpSpPr/>
          <p:nvPr/>
        </p:nvGrpSpPr>
        <p:grpSpPr>
          <a:xfrm rot="0">
            <a:off x="12559830" y="2256751"/>
            <a:ext cx="4221950" cy="1231174"/>
            <a:chOff x="0" y="0"/>
            <a:chExt cx="929087" cy="270933"/>
          </a:xfrm>
        </p:grpSpPr>
        <p:sp>
          <p:nvSpPr>
            <p:cNvPr name="Freeform 14" id="14"/>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5" id="15"/>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16" id="16"/>
          <p:cNvGrpSpPr/>
          <p:nvPr/>
        </p:nvGrpSpPr>
        <p:grpSpPr>
          <a:xfrm rot="0">
            <a:off x="9669336" y="3930996"/>
            <a:ext cx="4221950" cy="1231174"/>
            <a:chOff x="0" y="0"/>
            <a:chExt cx="929087" cy="270933"/>
          </a:xfrm>
        </p:grpSpPr>
        <p:sp>
          <p:nvSpPr>
            <p:cNvPr name="Freeform 17" id="17"/>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FF9300"/>
            </a:solidFill>
          </p:spPr>
        </p:sp>
        <p:sp>
          <p:nvSpPr>
            <p:cNvPr name="TextBox 18" id="18"/>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sp>
        <p:nvSpPr>
          <p:cNvPr name="Freeform 19" id="19"/>
          <p:cNvSpPr/>
          <p:nvPr/>
        </p:nvSpPr>
        <p:spPr>
          <a:xfrm flipH="false" flipV="false" rot="0">
            <a:off x="1028700" y="9037035"/>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0" id="20"/>
          <p:cNvSpPr/>
          <p:nvPr/>
        </p:nvSpPr>
        <p:spPr>
          <a:xfrm flipV="true">
            <a:off x="9144000" y="6045772"/>
            <a:ext cx="7312427" cy="0"/>
          </a:xfrm>
          <a:prstGeom prst="line">
            <a:avLst/>
          </a:prstGeom>
          <a:ln cap="flat" w="9525">
            <a:solidFill>
              <a:srgbClr val="283353"/>
            </a:solidFill>
            <a:prstDash val="solid"/>
            <a:headEnd type="none" len="sm" w="sm"/>
            <a:tailEnd type="none" len="sm" w="sm"/>
          </a:ln>
        </p:spPr>
      </p:sp>
      <p:grpSp>
        <p:nvGrpSpPr>
          <p:cNvPr name="Group 21" id="21"/>
          <p:cNvGrpSpPr/>
          <p:nvPr/>
        </p:nvGrpSpPr>
        <p:grpSpPr>
          <a:xfrm rot="0">
            <a:off x="393990" y="454540"/>
            <a:ext cx="5441196" cy="4835596"/>
            <a:chOff x="0" y="0"/>
            <a:chExt cx="1717909" cy="1526707"/>
          </a:xfrm>
        </p:grpSpPr>
        <p:sp>
          <p:nvSpPr>
            <p:cNvPr name="Freeform 22" id="22"/>
            <p:cNvSpPr/>
            <p:nvPr/>
          </p:nvSpPr>
          <p:spPr>
            <a:xfrm flipH="false" flipV="false" rot="0">
              <a:off x="0" y="0"/>
              <a:ext cx="1717909" cy="1526713"/>
            </a:xfrm>
            <a:custGeom>
              <a:avLst/>
              <a:gdLst/>
              <a:ahLst/>
              <a:cxnLst/>
              <a:rect r="r" b="b" t="t" l="l"/>
              <a:pathLst>
                <a:path h="1526713" w="1717909">
                  <a:moveTo>
                    <a:pt x="1622311" y="0"/>
                  </a:moveTo>
                  <a:lnTo>
                    <a:pt x="95598" y="0"/>
                  </a:lnTo>
                  <a:cubicBezTo>
                    <a:pt x="42801" y="0"/>
                    <a:pt x="0" y="42801"/>
                    <a:pt x="0" y="95598"/>
                  </a:cubicBezTo>
                  <a:lnTo>
                    <a:pt x="0" y="1228793"/>
                  </a:lnTo>
                  <a:cubicBezTo>
                    <a:pt x="0" y="1281590"/>
                    <a:pt x="42801" y="1324391"/>
                    <a:pt x="95598" y="1324391"/>
                  </a:cubicBezTo>
                  <a:lnTo>
                    <a:pt x="204343" y="1324391"/>
                  </a:lnTo>
                  <a:cubicBezTo>
                    <a:pt x="231994" y="1324391"/>
                    <a:pt x="258291" y="1336363"/>
                    <a:pt x="276447" y="1357218"/>
                  </a:cubicBezTo>
                  <a:lnTo>
                    <a:pt x="395420" y="1493879"/>
                  </a:lnTo>
                  <a:cubicBezTo>
                    <a:pt x="413574" y="1514737"/>
                    <a:pt x="439871" y="1526713"/>
                    <a:pt x="467524" y="1526713"/>
                  </a:cubicBezTo>
                  <a:lnTo>
                    <a:pt x="1250385" y="1526713"/>
                  </a:lnTo>
                  <a:cubicBezTo>
                    <a:pt x="1278036" y="1526714"/>
                    <a:pt x="1304333" y="1514741"/>
                    <a:pt x="1322489" y="1493885"/>
                  </a:cubicBezTo>
                  <a:lnTo>
                    <a:pt x="1441460" y="1357226"/>
                  </a:lnTo>
                  <a:cubicBezTo>
                    <a:pt x="1459616" y="1336370"/>
                    <a:pt x="1485913" y="1324397"/>
                    <a:pt x="1513564" y="1324397"/>
                  </a:cubicBezTo>
                  <a:lnTo>
                    <a:pt x="1622311" y="1324397"/>
                  </a:lnTo>
                  <a:cubicBezTo>
                    <a:pt x="1675108" y="1324397"/>
                    <a:pt x="1717909" y="1281597"/>
                    <a:pt x="1717909" y="1228799"/>
                  </a:cubicBezTo>
                  <a:lnTo>
                    <a:pt x="1717909" y="95598"/>
                  </a:lnTo>
                  <a:cubicBezTo>
                    <a:pt x="1717909" y="42801"/>
                    <a:pt x="1675108" y="0"/>
                    <a:pt x="1622311" y="0"/>
                  </a:cubicBezTo>
                  <a:close/>
                </a:path>
              </a:pathLst>
            </a:custGeom>
            <a:blipFill>
              <a:blip r:embed="rId6"/>
              <a:stretch>
                <a:fillRect l="-4719" t="-3437" r="-3428" b="0"/>
              </a:stretch>
            </a:blipFill>
          </p:spPr>
        </p:sp>
      </p:grpSp>
      <p:sp>
        <p:nvSpPr>
          <p:cNvPr name="Freeform 23" id="23"/>
          <p:cNvSpPr/>
          <p:nvPr/>
        </p:nvSpPr>
        <p:spPr>
          <a:xfrm flipH="false" flipV="false" rot="0">
            <a:off x="14170483" y="7817220"/>
            <a:ext cx="4117517" cy="2439629"/>
          </a:xfrm>
          <a:custGeom>
            <a:avLst/>
            <a:gdLst/>
            <a:ahLst/>
            <a:cxnLst/>
            <a:rect r="r" b="b" t="t" l="l"/>
            <a:pathLst>
              <a:path h="2439629" w="4117517">
                <a:moveTo>
                  <a:pt x="0" y="0"/>
                </a:moveTo>
                <a:lnTo>
                  <a:pt x="4117517" y="0"/>
                </a:lnTo>
                <a:lnTo>
                  <a:pt x="4117517" y="2439629"/>
                </a:lnTo>
                <a:lnTo>
                  <a:pt x="0" y="2439629"/>
                </a:lnTo>
                <a:lnTo>
                  <a:pt x="0" y="0"/>
                </a:lnTo>
                <a:close/>
              </a:path>
            </a:pathLst>
          </a:custGeom>
          <a:blipFill>
            <a:blip r:embed="rId7"/>
            <a:stretch>
              <a:fillRect l="0" t="0" r="0" b="0"/>
            </a:stretch>
          </a:blipFill>
        </p:spPr>
      </p:sp>
      <p:sp>
        <p:nvSpPr>
          <p:cNvPr name="TextBox 24" id="24"/>
          <p:cNvSpPr txBox="true"/>
          <p:nvPr/>
        </p:nvSpPr>
        <p:spPr>
          <a:xfrm rot="0">
            <a:off x="9144000" y="6583934"/>
            <a:ext cx="8115300" cy="1125317"/>
          </a:xfrm>
          <a:prstGeom prst="rect">
            <a:avLst/>
          </a:prstGeom>
        </p:spPr>
        <p:txBody>
          <a:bodyPr anchor="t" rtlCol="false" tIns="0" lIns="0" bIns="0" rIns="0">
            <a:spAutoFit/>
          </a:bodyPr>
          <a:lstStyle/>
          <a:p>
            <a:pPr algn="l">
              <a:lnSpc>
                <a:spcPts val="8482"/>
              </a:lnSpc>
            </a:pPr>
            <a:r>
              <a:rPr lang="en-US" sz="8482" spc="-636">
                <a:solidFill>
                  <a:srgbClr val="283353"/>
                </a:solidFill>
                <a:latin typeface="Garet"/>
                <a:ea typeface="Garet"/>
                <a:cs typeface="Garet"/>
                <a:sym typeface="Garet"/>
              </a:rPr>
              <a:t>Iterations</a:t>
            </a:r>
          </a:p>
        </p:txBody>
      </p:sp>
      <p:sp>
        <p:nvSpPr>
          <p:cNvPr name="TextBox 25" id="25"/>
          <p:cNvSpPr txBox="true"/>
          <p:nvPr/>
        </p:nvSpPr>
        <p:spPr>
          <a:xfrm rot="0">
            <a:off x="7877923" y="2400287"/>
            <a:ext cx="3902388" cy="906002"/>
          </a:xfrm>
          <a:prstGeom prst="rect">
            <a:avLst/>
          </a:prstGeom>
        </p:spPr>
        <p:txBody>
          <a:bodyPr anchor="t" rtlCol="false" tIns="0" lIns="0" bIns="0" rIns="0">
            <a:spAutoFit/>
          </a:bodyPr>
          <a:lstStyle/>
          <a:p>
            <a:pPr algn="ctr">
              <a:lnSpc>
                <a:spcPts val="3686"/>
              </a:lnSpc>
              <a:spcBef>
                <a:spcPct val="0"/>
              </a:spcBef>
            </a:pPr>
            <a:r>
              <a:rPr lang="en-US" sz="2632" spc="26">
                <a:solidFill>
                  <a:srgbClr val="F6F9FF"/>
                </a:solidFill>
                <a:latin typeface="Garet"/>
                <a:ea typeface="Garet"/>
                <a:cs typeface="Garet"/>
                <a:sym typeface="Garet"/>
              </a:rPr>
              <a:t>Easy-wear cuff with hinge and pin latch</a:t>
            </a:r>
          </a:p>
        </p:txBody>
      </p:sp>
      <p:sp>
        <p:nvSpPr>
          <p:cNvPr name="TextBox 26" id="26"/>
          <p:cNvSpPr txBox="true"/>
          <p:nvPr/>
        </p:nvSpPr>
        <p:spPr>
          <a:xfrm rot="0">
            <a:off x="13033289" y="2400287"/>
            <a:ext cx="3275033" cy="906002"/>
          </a:xfrm>
          <a:prstGeom prst="rect">
            <a:avLst/>
          </a:prstGeom>
        </p:spPr>
        <p:txBody>
          <a:bodyPr anchor="t" rtlCol="false" tIns="0" lIns="0" bIns="0" rIns="0">
            <a:spAutoFit/>
          </a:bodyPr>
          <a:lstStyle/>
          <a:p>
            <a:pPr algn="ctr">
              <a:lnSpc>
                <a:spcPts val="3686"/>
              </a:lnSpc>
            </a:pPr>
            <a:r>
              <a:rPr lang="en-US" sz="2632" spc="26">
                <a:solidFill>
                  <a:srgbClr val="F6F9FF"/>
                </a:solidFill>
                <a:latin typeface="Garet"/>
                <a:ea typeface="Garet"/>
                <a:cs typeface="Garet"/>
                <a:sym typeface="Garet"/>
              </a:rPr>
              <a:t>Low-cost and </a:t>
            </a:r>
          </a:p>
          <a:p>
            <a:pPr algn="ctr">
              <a:lnSpc>
                <a:spcPts val="3686"/>
              </a:lnSpc>
              <a:spcBef>
                <a:spcPct val="0"/>
              </a:spcBef>
            </a:pPr>
            <a:r>
              <a:rPr lang="en-US" sz="2632" spc="26">
                <a:solidFill>
                  <a:srgbClr val="F6F9FF"/>
                </a:solidFill>
                <a:latin typeface="Garet"/>
                <a:ea typeface="Garet"/>
                <a:cs typeface="Garet"/>
                <a:sym typeface="Garet"/>
              </a:rPr>
              <a:t>non-invasive</a:t>
            </a:r>
          </a:p>
        </p:txBody>
      </p:sp>
      <p:sp>
        <p:nvSpPr>
          <p:cNvPr name="TextBox 27" id="27"/>
          <p:cNvSpPr txBox="true"/>
          <p:nvPr/>
        </p:nvSpPr>
        <p:spPr>
          <a:xfrm rot="0">
            <a:off x="10142795" y="4074531"/>
            <a:ext cx="3275033" cy="906002"/>
          </a:xfrm>
          <a:prstGeom prst="rect">
            <a:avLst/>
          </a:prstGeom>
        </p:spPr>
        <p:txBody>
          <a:bodyPr anchor="t" rtlCol="false" tIns="0" lIns="0" bIns="0" rIns="0">
            <a:spAutoFit/>
          </a:bodyPr>
          <a:lstStyle/>
          <a:p>
            <a:pPr algn="ctr">
              <a:lnSpc>
                <a:spcPts val="3686"/>
              </a:lnSpc>
              <a:spcBef>
                <a:spcPct val="0"/>
              </a:spcBef>
            </a:pPr>
            <a:r>
              <a:rPr lang="en-US" sz="2632" spc="26">
                <a:solidFill>
                  <a:srgbClr val="F6F9FF"/>
                </a:solidFill>
                <a:latin typeface="Garet"/>
                <a:ea typeface="Garet"/>
                <a:cs typeface="Garet"/>
                <a:sym typeface="Garet"/>
              </a:rPr>
              <a:t>Dettachable battery holder</a:t>
            </a:r>
          </a:p>
        </p:txBody>
      </p:sp>
      <p:sp>
        <p:nvSpPr>
          <p:cNvPr name="TextBox 28" id="28"/>
          <p:cNvSpPr txBox="true"/>
          <p:nvPr/>
        </p:nvSpPr>
        <p:spPr>
          <a:xfrm rot="0">
            <a:off x="5925862" y="722100"/>
            <a:ext cx="2832375" cy="438612"/>
          </a:xfrm>
          <a:prstGeom prst="rect">
            <a:avLst/>
          </a:prstGeom>
        </p:spPr>
        <p:txBody>
          <a:bodyPr anchor="t" rtlCol="false" tIns="0" lIns="0" bIns="0" rIns="0">
            <a:spAutoFit/>
          </a:bodyPr>
          <a:lstStyle/>
          <a:p>
            <a:pPr algn="ctr">
              <a:lnSpc>
                <a:spcPts val="3686"/>
              </a:lnSpc>
              <a:spcBef>
                <a:spcPct val="0"/>
              </a:spcBef>
            </a:pPr>
            <a:r>
              <a:rPr lang="en-US" sz="2632" spc="26">
                <a:solidFill>
                  <a:srgbClr val="283353"/>
                </a:solidFill>
                <a:latin typeface="Garet"/>
                <a:ea typeface="Garet"/>
                <a:cs typeface="Garet"/>
                <a:sym typeface="Garet"/>
              </a:rPr>
              <a:t>Initial Prototype</a:t>
            </a:r>
          </a:p>
        </p:txBody>
      </p:sp>
      <p:sp>
        <p:nvSpPr>
          <p:cNvPr name="TextBox 29" id="29"/>
          <p:cNvSpPr txBox="true"/>
          <p:nvPr/>
        </p:nvSpPr>
        <p:spPr>
          <a:xfrm rot="0">
            <a:off x="849405" y="7494258"/>
            <a:ext cx="2265183" cy="906002"/>
          </a:xfrm>
          <a:prstGeom prst="rect">
            <a:avLst/>
          </a:prstGeom>
        </p:spPr>
        <p:txBody>
          <a:bodyPr anchor="t" rtlCol="false" tIns="0" lIns="0" bIns="0" rIns="0">
            <a:spAutoFit/>
          </a:bodyPr>
          <a:lstStyle/>
          <a:p>
            <a:pPr algn="ctr">
              <a:lnSpc>
                <a:spcPts val="3686"/>
              </a:lnSpc>
              <a:spcBef>
                <a:spcPct val="0"/>
              </a:spcBef>
            </a:pPr>
            <a:r>
              <a:rPr lang="en-US" sz="2632" spc="26">
                <a:solidFill>
                  <a:srgbClr val="283353"/>
                </a:solidFill>
                <a:latin typeface="Garet"/>
                <a:ea typeface="Garet"/>
                <a:cs typeface="Garet"/>
                <a:sym typeface="Garet"/>
              </a:rPr>
              <a:t>Revised Design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grpSp>
        <p:nvGrpSpPr>
          <p:cNvPr name="Group 2" id="2"/>
          <p:cNvGrpSpPr/>
          <p:nvPr/>
        </p:nvGrpSpPr>
        <p:grpSpPr>
          <a:xfrm rot="0">
            <a:off x="8115300" y="-347713"/>
            <a:ext cx="10809548" cy="4337650"/>
            <a:chOff x="0" y="0"/>
            <a:chExt cx="2846959" cy="1142426"/>
          </a:xfrm>
        </p:grpSpPr>
        <p:sp>
          <p:nvSpPr>
            <p:cNvPr name="Freeform 3" id="3"/>
            <p:cNvSpPr/>
            <p:nvPr/>
          </p:nvSpPr>
          <p:spPr>
            <a:xfrm flipH="false" flipV="false" rot="0">
              <a:off x="0" y="0"/>
              <a:ext cx="2846959" cy="1142426"/>
            </a:xfrm>
            <a:custGeom>
              <a:avLst/>
              <a:gdLst/>
              <a:ahLst/>
              <a:cxnLst/>
              <a:rect r="r" b="b" t="t" l="l"/>
              <a:pathLst>
                <a:path h="1142426" w="2846959">
                  <a:moveTo>
                    <a:pt x="25067" y="0"/>
                  </a:moveTo>
                  <a:lnTo>
                    <a:pt x="2821892" y="0"/>
                  </a:lnTo>
                  <a:cubicBezTo>
                    <a:pt x="2828540" y="0"/>
                    <a:pt x="2834916" y="2641"/>
                    <a:pt x="2839617" y="7342"/>
                  </a:cubicBezTo>
                  <a:cubicBezTo>
                    <a:pt x="2844318" y="12043"/>
                    <a:pt x="2846959" y="18419"/>
                    <a:pt x="2846959" y="25067"/>
                  </a:cubicBezTo>
                  <a:lnTo>
                    <a:pt x="2846959" y="1117359"/>
                  </a:lnTo>
                  <a:cubicBezTo>
                    <a:pt x="2846959" y="1131203"/>
                    <a:pt x="2835736" y="1142426"/>
                    <a:pt x="2821892" y="1142426"/>
                  </a:cubicBezTo>
                  <a:lnTo>
                    <a:pt x="25067" y="1142426"/>
                  </a:lnTo>
                  <a:cubicBezTo>
                    <a:pt x="11223" y="1142426"/>
                    <a:pt x="0" y="1131203"/>
                    <a:pt x="0" y="1117359"/>
                  </a:cubicBezTo>
                  <a:lnTo>
                    <a:pt x="0" y="25067"/>
                  </a:lnTo>
                  <a:cubicBezTo>
                    <a:pt x="0" y="11223"/>
                    <a:pt x="11223" y="0"/>
                    <a:pt x="25067" y="0"/>
                  </a:cubicBezTo>
                  <a:close/>
                </a:path>
              </a:pathLst>
            </a:custGeom>
            <a:solidFill>
              <a:srgbClr val="7CA4FD"/>
            </a:solidFill>
          </p:spPr>
        </p:sp>
        <p:sp>
          <p:nvSpPr>
            <p:cNvPr name="TextBox 4" id="4"/>
            <p:cNvSpPr txBox="true"/>
            <p:nvPr/>
          </p:nvSpPr>
          <p:spPr>
            <a:xfrm>
              <a:off x="0" y="-38100"/>
              <a:ext cx="2846959" cy="1180526"/>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9144000" y="1047750"/>
            <a:ext cx="5402375" cy="4251270"/>
            <a:chOff x="0" y="0"/>
            <a:chExt cx="1804151" cy="1419733"/>
          </a:xfrm>
        </p:grpSpPr>
        <p:sp>
          <p:nvSpPr>
            <p:cNvPr name="Freeform 6" id="6"/>
            <p:cNvSpPr/>
            <p:nvPr/>
          </p:nvSpPr>
          <p:spPr>
            <a:xfrm flipH="false" flipV="false" rot="0">
              <a:off x="0" y="0"/>
              <a:ext cx="1804151" cy="1419733"/>
            </a:xfrm>
            <a:custGeom>
              <a:avLst/>
              <a:gdLst/>
              <a:ahLst/>
              <a:cxnLst/>
              <a:rect r="r" b="b" t="t" l="l"/>
              <a:pathLst>
                <a:path h="1419733" w="1804151">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3"/>
              <a:stretch>
                <a:fillRect l="-24945" t="0" r="-24945" b="0"/>
              </a:stretch>
            </a:blipFill>
          </p:spPr>
        </p:sp>
      </p:grpSp>
      <p:sp>
        <p:nvSpPr>
          <p:cNvPr name="Freeform 7" id="7"/>
          <p:cNvSpPr/>
          <p:nvPr/>
        </p:nvSpPr>
        <p:spPr>
          <a:xfrm flipH="false" flipV="false" rot="0">
            <a:off x="16410305" y="5096804"/>
            <a:ext cx="848995" cy="202215"/>
          </a:xfrm>
          <a:custGeom>
            <a:avLst/>
            <a:gdLst/>
            <a:ahLst/>
            <a:cxnLst/>
            <a:rect r="r" b="b" t="t" l="l"/>
            <a:pathLst>
              <a:path h="202215" w="848995">
                <a:moveTo>
                  <a:pt x="0" y="0"/>
                </a:moveTo>
                <a:lnTo>
                  <a:pt x="848995" y="0"/>
                </a:lnTo>
                <a:lnTo>
                  <a:pt x="848995" y="202216"/>
                </a:lnTo>
                <a:lnTo>
                  <a:pt x="0" y="2022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8700" y="1047750"/>
            <a:ext cx="955040" cy="95504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30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AutoShape 11" id="11"/>
          <p:cNvSpPr/>
          <p:nvPr/>
        </p:nvSpPr>
        <p:spPr>
          <a:xfrm>
            <a:off x="1028700" y="3985174"/>
            <a:ext cx="6057900" cy="0"/>
          </a:xfrm>
          <a:prstGeom prst="line">
            <a:avLst/>
          </a:prstGeom>
          <a:ln cap="flat" w="9525">
            <a:solidFill>
              <a:srgbClr val="283353"/>
            </a:solidFill>
            <a:prstDash val="solid"/>
            <a:headEnd type="none" len="sm" w="sm"/>
            <a:tailEnd type="none" len="sm" w="sm"/>
          </a:ln>
        </p:spPr>
      </p:sp>
      <p:grpSp>
        <p:nvGrpSpPr>
          <p:cNvPr name="Group 12" id="12"/>
          <p:cNvGrpSpPr/>
          <p:nvPr/>
        </p:nvGrpSpPr>
        <p:grpSpPr>
          <a:xfrm rot="0">
            <a:off x="802873" y="5756593"/>
            <a:ext cx="3527626" cy="1028700"/>
            <a:chOff x="0" y="0"/>
            <a:chExt cx="929087" cy="270933"/>
          </a:xfrm>
        </p:grpSpPr>
        <p:sp>
          <p:nvSpPr>
            <p:cNvPr name="Freeform 13" id="13"/>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000000"/>
            </a:solidFill>
          </p:spPr>
        </p:sp>
        <p:sp>
          <p:nvSpPr>
            <p:cNvPr name="TextBox 14" id="14"/>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15" id="15"/>
          <p:cNvGrpSpPr/>
          <p:nvPr/>
        </p:nvGrpSpPr>
        <p:grpSpPr>
          <a:xfrm rot="0">
            <a:off x="4587674" y="5756593"/>
            <a:ext cx="3527626" cy="1028700"/>
            <a:chOff x="0" y="0"/>
            <a:chExt cx="929087" cy="270933"/>
          </a:xfrm>
        </p:grpSpPr>
        <p:sp>
          <p:nvSpPr>
            <p:cNvPr name="Freeform 16" id="16"/>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000000"/>
            </a:solidFill>
          </p:spPr>
        </p:sp>
        <p:sp>
          <p:nvSpPr>
            <p:cNvPr name="TextBox 17" id="17"/>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grpSp>
        <p:nvGrpSpPr>
          <p:cNvPr name="Group 18" id="18"/>
          <p:cNvGrpSpPr/>
          <p:nvPr/>
        </p:nvGrpSpPr>
        <p:grpSpPr>
          <a:xfrm rot="0">
            <a:off x="2695273" y="7155498"/>
            <a:ext cx="3527626" cy="1028700"/>
            <a:chOff x="0" y="0"/>
            <a:chExt cx="929087" cy="270933"/>
          </a:xfrm>
        </p:grpSpPr>
        <p:sp>
          <p:nvSpPr>
            <p:cNvPr name="Freeform 19" id="19"/>
            <p:cNvSpPr/>
            <p:nvPr/>
          </p:nvSpPr>
          <p:spPr>
            <a:xfrm flipH="false" flipV="false" rot="0">
              <a:off x="0" y="0"/>
              <a:ext cx="929087" cy="270933"/>
            </a:xfrm>
            <a:custGeom>
              <a:avLst/>
              <a:gdLst/>
              <a:ahLst/>
              <a:cxnLst/>
              <a:rect r="r" b="b" t="t" l="l"/>
              <a:pathLst>
                <a:path h="270933" w="929087">
                  <a:moveTo>
                    <a:pt x="135467" y="0"/>
                  </a:moveTo>
                  <a:lnTo>
                    <a:pt x="793620" y="0"/>
                  </a:lnTo>
                  <a:cubicBezTo>
                    <a:pt x="829548" y="0"/>
                    <a:pt x="864005" y="14272"/>
                    <a:pt x="889409" y="39677"/>
                  </a:cubicBezTo>
                  <a:cubicBezTo>
                    <a:pt x="914814" y="65082"/>
                    <a:pt x="929087" y="99539"/>
                    <a:pt x="929087" y="135467"/>
                  </a:cubicBezTo>
                  <a:lnTo>
                    <a:pt x="929087" y="135467"/>
                  </a:lnTo>
                  <a:cubicBezTo>
                    <a:pt x="929087" y="171395"/>
                    <a:pt x="914814" y="205851"/>
                    <a:pt x="889409" y="231256"/>
                  </a:cubicBezTo>
                  <a:cubicBezTo>
                    <a:pt x="864005" y="256661"/>
                    <a:pt x="829548" y="270933"/>
                    <a:pt x="793620" y="270933"/>
                  </a:cubicBezTo>
                  <a:lnTo>
                    <a:pt x="135467" y="270933"/>
                  </a:lnTo>
                  <a:cubicBezTo>
                    <a:pt x="99539" y="270933"/>
                    <a:pt x="65082" y="256661"/>
                    <a:pt x="39677" y="231256"/>
                  </a:cubicBezTo>
                  <a:cubicBezTo>
                    <a:pt x="14272" y="205851"/>
                    <a:pt x="0" y="171395"/>
                    <a:pt x="0" y="135467"/>
                  </a:cubicBezTo>
                  <a:lnTo>
                    <a:pt x="0" y="135467"/>
                  </a:lnTo>
                  <a:cubicBezTo>
                    <a:pt x="0" y="99539"/>
                    <a:pt x="14272" y="65082"/>
                    <a:pt x="39677" y="39677"/>
                  </a:cubicBezTo>
                  <a:cubicBezTo>
                    <a:pt x="65082" y="14272"/>
                    <a:pt x="99539" y="0"/>
                    <a:pt x="135467" y="0"/>
                  </a:cubicBezTo>
                  <a:close/>
                </a:path>
              </a:pathLst>
            </a:custGeom>
            <a:solidFill>
              <a:srgbClr val="000000"/>
            </a:solidFill>
          </p:spPr>
        </p:sp>
        <p:sp>
          <p:nvSpPr>
            <p:cNvPr name="TextBox 20" id="20"/>
            <p:cNvSpPr txBox="true"/>
            <p:nvPr/>
          </p:nvSpPr>
          <p:spPr>
            <a:xfrm>
              <a:off x="0" y="-38100"/>
              <a:ext cx="929087" cy="309033"/>
            </a:xfrm>
            <a:prstGeom prst="rect">
              <a:avLst/>
            </a:prstGeom>
          </p:spPr>
          <p:txBody>
            <a:bodyPr anchor="ctr" rtlCol="false" tIns="50800" lIns="50800" bIns="50800" rIns="50800"/>
            <a:lstStyle/>
            <a:p>
              <a:pPr algn="ctr">
                <a:lnSpc>
                  <a:spcPts val="3079"/>
                </a:lnSpc>
              </a:pPr>
            </a:p>
          </p:txBody>
        </p:sp>
      </p:grpSp>
      <p:sp>
        <p:nvSpPr>
          <p:cNvPr name="TextBox 21" id="21"/>
          <p:cNvSpPr txBox="true"/>
          <p:nvPr/>
        </p:nvSpPr>
        <p:spPr>
          <a:xfrm rot="0">
            <a:off x="9144000" y="6205993"/>
            <a:ext cx="8745705" cy="2597149"/>
          </a:xfrm>
          <a:prstGeom prst="rect">
            <a:avLst/>
          </a:prstGeom>
        </p:spPr>
        <p:txBody>
          <a:bodyPr anchor="t" rtlCol="false" tIns="0" lIns="0" bIns="0" rIns="0">
            <a:spAutoFit/>
          </a:bodyPr>
          <a:lstStyle/>
          <a:p>
            <a:pPr algn="l">
              <a:lnSpc>
                <a:spcPts val="9999"/>
              </a:lnSpc>
            </a:pPr>
            <a:r>
              <a:rPr lang="en-US" sz="9999" spc="-749">
                <a:solidFill>
                  <a:srgbClr val="283353"/>
                </a:solidFill>
                <a:latin typeface="Garet"/>
                <a:ea typeface="Garet"/>
                <a:cs typeface="Garet"/>
                <a:sym typeface="Garet"/>
              </a:rPr>
              <a:t>Future Improvements</a:t>
            </a:r>
          </a:p>
        </p:txBody>
      </p:sp>
      <p:sp>
        <p:nvSpPr>
          <p:cNvPr name="TextBox 22" id="22"/>
          <p:cNvSpPr txBox="true"/>
          <p:nvPr/>
        </p:nvSpPr>
        <p:spPr>
          <a:xfrm rot="0">
            <a:off x="1198468" y="5870258"/>
            <a:ext cx="2736435" cy="763270"/>
          </a:xfrm>
          <a:prstGeom prst="rect">
            <a:avLst/>
          </a:prstGeom>
        </p:spPr>
        <p:txBody>
          <a:bodyPr anchor="t" rtlCol="false" tIns="0" lIns="0" bIns="0" rIns="0">
            <a:spAutoFit/>
          </a:bodyPr>
          <a:lstStyle/>
          <a:p>
            <a:pPr algn="ctr">
              <a:lnSpc>
                <a:spcPts val="3079"/>
              </a:lnSpc>
              <a:spcBef>
                <a:spcPct val="0"/>
              </a:spcBef>
            </a:pPr>
            <a:r>
              <a:rPr lang="en-US" sz="2199" spc="21">
                <a:solidFill>
                  <a:srgbClr val="F6F9FF"/>
                </a:solidFill>
                <a:latin typeface="Garet"/>
                <a:ea typeface="Garet"/>
                <a:cs typeface="Garet"/>
                <a:sym typeface="Garet"/>
              </a:rPr>
              <a:t>Increased warning capabilites</a:t>
            </a:r>
          </a:p>
        </p:txBody>
      </p:sp>
      <p:sp>
        <p:nvSpPr>
          <p:cNvPr name="TextBox 23" id="23"/>
          <p:cNvSpPr txBox="true"/>
          <p:nvPr/>
        </p:nvSpPr>
        <p:spPr>
          <a:xfrm rot="0">
            <a:off x="4983270" y="5870258"/>
            <a:ext cx="2736435" cy="763270"/>
          </a:xfrm>
          <a:prstGeom prst="rect">
            <a:avLst/>
          </a:prstGeom>
        </p:spPr>
        <p:txBody>
          <a:bodyPr anchor="t" rtlCol="false" tIns="0" lIns="0" bIns="0" rIns="0">
            <a:spAutoFit/>
          </a:bodyPr>
          <a:lstStyle/>
          <a:p>
            <a:pPr algn="ctr">
              <a:lnSpc>
                <a:spcPts val="3079"/>
              </a:lnSpc>
              <a:spcBef>
                <a:spcPct val="0"/>
              </a:spcBef>
            </a:pPr>
            <a:r>
              <a:rPr lang="en-US" sz="2199" spc="21">
                <a:solidFill>
                  <a:srgbClr val="F6F9FF"/>
                </a:solidFill>
                <a:latin typeface="Garet"/>
                <a:ea typeface="Garet"/>
                <a:cs typeface="Garet"/>
                <a:sym typeface="Garet"/>
              </a:rPr>
              <a:t>Reduce false positives</a:t>
            </a:r>
          </a:p>
        </p:txBody>
      </p:sp>
      <p:sp>
        <p:nvSpPr>
          <p:cNvPr name="TextBox 24" id="24"/>
          <p:cNvSpPr txBox="true"/>
          <p:nvPr/>
        </p:nvSpPr>
        <p:spPr>
          <a:xfrm rot="0">
            <a:off x="3090869" y="7269163"/>
            <a:ext cx="2736435" cy="763270"/>
          </a:xfrm>
          <a:prstGeom prst="rect">
            <a:avLst/>
          </a:prstGeom>
        </p:spPr>
        <p:txBody>
          <a:bodyPr anchor="t" rtlCol="false" tIns="0" lIns="0" bIns="0" rIns="0">
            <a:spAutoFit/>
          </a:bodyPr>
          <a:lstStyle/>
          <a:p>
            <a:pPr algn="ctr">
              <a:lnSpc>
                <a:spcPts val="3079"/>
              </a:lnSpc>
              <a:spcBef>
                <a:spcPct val="0"/>
              </a:spcBef>
            </a:pPr>
            <a:r>
              <a:rPr lang="en-US" sz="2199" spc="21">
                <a:solidFill>
                  <a:srgbClr val="F6F9FF"/>
                </a:solidFill>
                <a:latin typeface="Garet"/>
                <a:ea typeface="Garet"/>
                <a:cs typeface="Garet"/>
                <a:sym typeface="Garet"/>
              </a:rPr>
              <a:t>Affordability and accessibility</a:t>
            </a:r>
          </a:p>
        </p:txBody>
      </p:sp>
      <p:sp>
        <p:nvSpPr>
          <p:cNvPr name="TextBox 25" id="25"/>
          <p:cNvSpPr txBox="true"/>
          <p:nvPr/>
        </p:nvSpPr>
        <p:spPr>
          <a:xfrm rot="0">
            <a:off x="9144000" y="561502"/>
            <a:ext cx="7565771" cy="257175"/>
          </a:xfrm>
          <a:prstGeom prst="rect">
            <a:avLst/>
          </a:prstGeom>
        </p:spPr>
        <p:txBody>
          <a:bodyPr anchor="t" rtlCol="false" tIns="0" lIns="0" bIns="0" rIns="0">
            <a:spAutoFit/>
          </a:bodyPr>
          <a:lstStyle/>
          <a:p>
            <a:pPr algn="ctr">
              <a:lnSpc>
                <a:spcPts val="2100"/>
              </a:lnSpc>
              <a:spcBef>
                <a:spcPct val="0"/>
              </a:spcBef>
            </a:pPr>
            <a:r>
              <a:rPr lang="en-US" sz="1500" spc="-37">
                <a:solidFill>
                  <a:srgbClr val="000000"/>
                </a:solidFill>
                <a:latin typeface="Garet"/>
                <a:ea typeface="Garet"/>
                <a:cs typeface="Garet"/>
                <a:sym typeface="Garet"/>
              </a:rPr>
              <a:t>https://diabetesonthenet.com/journal-diabetes-nursing/skin-assessment/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250781" y="0"/>
            <a:ext cx="5786438" cy="10287000"/>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9FF"/>
        </a:solidFill>
      </p:bgPr>
    </p:bg>
    <p:spTree>
      <p:nvGrpSpPr>
        <p:cNvPr id="1" name=""/>
        <p:cNvGrpSpPr/>
        <p:nvPr/>
      </p:nvGrpSpPr>
      <p:grpSpPr>
        <a:xfrm>
          <a:off x="0" y="0"/>
          <a:ext cx="0" cy="0"/>
          <a:chOff x="0" y="0"/>
          <a:chExt cx="0" cy="0"/>
        </a:xfrm>
      </p:grpSpPr>
      <p:grpSp>
        <p:nvGrpSpPr>
          <p:cNvPr name="Group 2" id="2"/>
          <p:cNvGrpSpPr/>
          <p:nvPr/>
        </p:nvGrpSpPr>
        <p:grpSpPr>
          <a:xfrm rot="0">
            <a:off x="16304260" y="8303260"/>
            <a:ext cx="955040" cy="95504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CA4FD"/>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3302545" y="2790372"/>
            <a:ext cx="7703247" cy="8159232"/>
            <a:chOff x="0" y="0"/>
            <a:chExt cx="2028839" cy="2148934"/>
          </a:xfrm>
        </p:grpSpPr>
        <p:sp>
          <p:nvSpPr>
            <p:cNvPr name="Freeform 6" id="6"/>
            <p:cNvSpPr/>
            <p:nvPr/>
          </p:nvSpPr>
          <p:spPr>
            <a:xfrm flipH="false" flipV="false" rot="0">
              <a:off x="0" y="0"/>
              <a:ext cx="2028839" cy="2148934"/>
            </a:xfrm>
            <a:custGeom>
              <a:avLst/>
              <a:gdLst/>
              <a:ahLst/>
              <a:cxnLst/>
              <a:rect r="r" b="b" t="t" l="l"/>
              <a:pathLst>
                <a:path h="2148934" w="2028839">
                  <a:moveTo>
                    <a:pt x="35176" y="0"/>
                  </a:moveTo>
                  <a:lnTo>
                    <a:pt x="1993663" y="0"/>
                  </a:lnTo>
                  <a:cubicBezTo>
                    <a:pt x="2013090" y="0"/>
                    <a:pt x="2028839" y="15749"/>
                    <a:pt x="2028839" y="35176"/>
                  </a:cubicBezTo>
                  <a:lnTo>
                    <a:pt x="2028839" y="2113758"/>
                  </a:lnTo>
                  <a:cubicBezTo>
                    <a:pt x="2028839" y="2133185"/>
                    <a:pt x="2013090" y="2148934"/>
                    <a:pt x="1993663" y="2148934"/>
                  </a:cubicBezTo>
                  <a:lnTo>
                    <a:pt x="35176" y="2148934"/>
                  </a:lnTo>
                  <a:cubicBezTo>
                    <a:pt x="25847" y="2148934"/>
                    <a:pt x="16899" y="2145228"/>
                    <a:pt x="10303" y="2138631"/>
                  </a:cubicBezTo>
                  <a:cubicBezTo>
                    <a:pt x="3706" y="2132034"/>
                    <a:pt x="0" y="2123087"/>
                    <a:pt x="0" y="2113758"/>
                  </a:cubicBezTo>
                  <a:lnTo>
                    <a:pt x="0" y="35176"/>
                  </a:lnTo>
                  <a:cubicBezTo>
                    <a:pt x="0" y="15749"/>
                    <a:pt x="15749" y="0"/>
                    <a:pt x="35176" y="0"/>
                  </a:cubicBezTo>
                  <a:close/>
                </a:path>
              </a:pathLst>
            </a:custGeom>
            <a:solidFill>
              <a:srgbClr val="7CA4FD"/>
            </a:solidFill>
          </p:spPr>
        </p:sp>
        <p:sp>
          <p:nvSpPr>
            <p:cNvPr name="TextBox 7" id="7"/>
            <p:cNvSpPr txBox="true"/>
            <p:nvPr/>
          </p:nvSpPr>
          <p:spPr>
            <a:xfrm>
              <a:off x="0" y="-38100"/>
              <a:ext cx="2028839" cy="218703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1028700" y="3847195"/>
            <a:ext cx="6744003" cy="5411105"/>
            <a:chOff x="0" y="0"/>
            <a:chExt cx="1931770" cy="1549971"/>
          </a:xfrm>
        </p:grpSpPr>
        <p:sp>
          <p:nvSpPr>
            <p:cNvPr name="Freeform 9" id="9"/>
            <p:cNvSpPr/>
            <p:nvPr/>
          </p:nvSpPr>
          <p:spPr>
            <a:xfrm flipH="false" flipV="false" rot="0">
              <a:off x="0" y="0"/>
              <a:ext cx="1931775" cy="1549972"/>
            </a:xfrm>
            <a:custGeom>
              <a:avLst/>
              <a:gdLst/>
              <a:ahLst/>
              <a:cxnLst/>
              <a:rect r="r" b="b" t="t" l="l"/>
              <a:pathLst>
                <a:path h="1549972" w="1931775">
                  <a:moveTo>
                    <a:pt x="565658" y="99126"/>
                  </a:moveTo>
                  <a:lnTo>
                    <a:pt x="565658" y="499584"/>
                  </a:lnTo>
                  <a:cubicBezTo>
                    <a:pt x="565658" y="525874"/>
                    <a:pt x="555214" y="551087"/>
                    <a:pt x="536624" y="569677"/>
                  </a:cubicBezTo>
                  <a:cubicBezTo>
                    <a:pt x="518034" y="588267"/>
                    <a:pt x="492821" y="598710"/>
                    <a:pt x="466531" y="598710"/>
                  </a:cubicBezTo>
                  <a:lnTo>
                    <a:pt x="99126" y="598710"/>
                  </a:lnTo>
                  <a:cubicBezTo>
                    <a:pt x="72836" y="598710"/>
                    <a:pt x="47623" y="609153"/>
                    <a:pt x="29033" y="627743"/>
                  </a:cubicBezTo>
                  <a:cubicBezTo>
                    <a:pt x="10444" y="646333"/>
                    <a:pt x="0" y="671546"/>
                    <a:pt x="0" y="697836"/>
                  </a:cubicBezTo>
                  <a:lnTo>
                    <a:pt x="0" y="862855"/>
                  </a:lnTo>
                  <a:lnTo>
                    <a:pt x="0" y="1235980"/>
                  </a:lnTo>
                  <a:cubicBezTo>
                    <a:pt x="0" y="1259531"/>
                    <a:pt x="8385" y="1282311"/>
                    <a:pt x="23652" y="1300243"/>
                  </a:cubicBezTo>
                  <a:lnTo>
                    <a:pt x="206607" y="1515110"/>
                  </a:lnTo>
                  <a:cubicBezTo>
                    <a:pt x="225441" y="1537228"/>
                    <a:pt x="253030" y="1549972"/>
                    <a:pt x="282081" y="1549972"/>
                  </a:cubicBezTo>
                  <a:lnTo>
                    <a:pt x="1649691" y="1549972"/>
                  </a:lnTo>
                  <a:cubicBezTo>
                    <a:pt x="1678743" y="1549973"/>
                    <a:pt x="1706333" y="1537230"/>
                    <a:pt x="1725168" y="1515110"/>
                  </a:cubicBezTo>
                  <a:lnTo>
                    <a:pt x="1908122" y="1300246"/>
                  </a:lnTo>
                  <a:cubicBezTo>
                    <a:pt x="1923389" y="1282315"/>
                    <a:pt x="1931775" y="1259535"/>
                    <a:pt x="1931775" y="1235984"/>
                  </a:cubicBezTo>
                  <a:lnTo>
                    <a:pt x="1931775" y="970629"/>
                  </a:lnTo>
                  <a:lnTo>
                    <a:pt x="1931775" y="99126"/>
                  </a:lnTo>
                  <a:cubicBezTo>
                    <a:pt x="1931775" y="72835"/>
                    <a:pt x="1921331" y="47621"/>
                    <a:pt x="1902740" y="29032"/>
                  </a:cubicBezTo>
                  <a:cubicBezTo>
                    <a:pt x="1884150" y="10442"/>
                    <a:pt x="1858935" y="-1"/>
                    <a:pt x="1832644" y="0"/>
                  </a:cubicBezTo>
                  <a:lnTo>
                    <a:pt x="664789" y="0"/>
                  </a:lnTo>
                  <a:cubicBezTo>
                    <a:pt x="638498" y="-1"/>
                    <a:pt x="613284" y="10442"/>
                    <a:pt x="594693" y="29032"/>
                  </a:cubicBezTo>
                  <a:cubicBezTo>
                    <a:pt x="576102" y="47621"/>
                    <a:pt x="565658" y="72835"/>
                    <a:pt x="565658" y="99126"/>
                  </a:cubicBezTo>
                  <a:close/>
                </a:path>
              </a:pathLst>
            </a:custGeom>
            <a:blipFill>
              <a:blip r:embed="rId3"/>
              <a:stretch>
                <a:fillRect l="0" t="-24086" r="0" b="-42091"/>
              </a:stretch>
            </a:blipFill>
          </p:spPr>
        </p:sp>
      </p:grpSp>
      <p:sp>
        <p:nvSpPr>
          <p:cNvPr name="Freeform 10" id="10"/>
          <p:cNvSpPr/>
          <p:nvPr/>
        </p:nvSpPr>
        <p:spPr>
          <a:xfrm flipH="false" flipV="false" rot="0">
            <a:off x="16410305" y="1047750"/>
            <a:ext cx="848995" cy="202215"/>
          </a:xfrm>
          <a:custGeom>
            <a:avLst/>
            <a:gdLst/>
            <a:ahLst/>
            <a:cxnLst/>
            <a:rect r="r" b="b" t="t" l="l"/>
            <a:pathLst>
              <a:path h="202215" w="848995">
                <a:moveTo>
                  <a:pt x="0" y="0"/>
                </a:moveTo>
                <a:lnTo>
                  <a:pt x="848995" y="0"/>
                </a:lnTo>
                <a:lnTo>
                  <a:pt x="848995" y="202215"/>
                </a:lnTo>
                <a:lnTo>
                  <a:pt x="0" y="2022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144000" y="7017385"/>
            <a:ext cx="3460180" cy="771525"/>
            <a:chOff x="0" y="0"/>
            <a:chExt cx="911323" cy="203200"/>
          </a:xfrm>
        </p:grpSpPr>
        <p:sp>
          <p:nvSpPr>
            <p:cNvPr name="Freeform 12" id="12"/>
            <p:cNvSpPr/>
            <p:nvPr/>
          </p:nvSpPr>
          <p:spPr>
            <a:xfrm flipH="false" flipV="false" rot="0">
              <a:off x="0" y="0"/>
              <a:ext cx="911323" cy="203200"/>
            </a:xfrm>
            <a:custGeom>
              <a:avLst/>
              <a:gdLst/>
              <a:ahLst/>
              <a:cxnLst/>
              <a:rect r="r" b="b" t="t" l="l"/>
              <a:pathLst>
                <a:path h="203200" w="911323">
                  <a:moveTo>
                    <a:pt x="101600" y="0"/>
                  </a:moveTo>
                  <a:lnTo>
                    <a:pt x="809723" y="0"/>
                  </a:lnTo>
                  <a:cubicBezTo>
                    <a:pt x="836669" y="0"/>
                    <a:pt x="862512" y="10704"/>
                    <a:pt x="881565" y="29758"/>
                  </a:cubicBezTo>
                  <a:cubicBezTo>
                    <a:pt x="900619" y="48812"/>
                    <a:pt x="911323" y="74654"/>
                    <a:pt x="911323" y="101600"/>
                  </a:cubicBezTo>
                  <a:lnTo>
                    <a:pt x="911323" y="101600"/>
                  </a:lnTo>
                  <a:cubicBezTo>
                    <a:pt x="911323" y="157712"/>
                    <a:pt x="865835" y="203200"/>
                    <a:pt x="809723" y="203200"/>
                  </a:cubicBezTo>
                  <a:lnTo>
                    <a:pt x="101600" y="203200"/>
                  </a:lnTo>
                  <a:cubicBezTo>
                    <a:pt x="45488" y="203200"/>
                    <a:pt x="0" y="157712"/>
                    <a:pt x="0" y="101600"/>
                  </a:cubicBezTo>
                  <a:lnTo>
                    <a:pt x="0" y="101600"/>
                  </a:lnTo>
                  <a:cubicBezTo>
                    <a:pt x="0" y="45488"/>
                    <a:pt x="45488" y="0"/>
                    <a:pt x="101600" y="0"/>
                  </a:cubicBezTo>
                  <a:close/>
                </a:path>
              </a:pathLst>
            </a:custGeom>
            <a:solidFill>
              <a:srgbClr val="FF9300"/>
            </a:solidFill>
          </p:spPr>
        </p:sp>
        <p:sp>
          <p:nvSpPr>
            <p:cNvPr name="TextBox 13" id="13"/>
            <p:cNvSpPr txBox="true"/>
            <p:nvPr/>
          </p:nvSpPr>
          <p:spPr>
            <a:xfrm>
              <a:off x="0" y="-57150"/>
              <a:ext cx="911323" cy="260350"/>
            </a:xfrm>
            <a:prstGeom prst="rect">
              <a:avLst/>
            </a:prstGeom>
          </p:spPr>
          <p:txBody>
            <a:bodyPr anchor="ctr" rtlCol="false" tIns="50800" lIns="50800" bIns="50800" rIns="50800"/>
            <a:lstStyle/>
            <a:p>
              <a:pPr algn="ctr">
                <a:lnSpc>
                  <a:spcPts val="3639"/>
                </a:lnSpc>
              </a:pPr>
              <a:r>
                <a:rPr lang="en-US" sz="2599" spc="-64">
                  <a:solidFill>
                    <a:srgbClr val="283353"/>
                  </a:solidFill>
                  <a:latin typeface="Garet"/>
                  <a:ea typeface="Garet"/>
                  <a:cs typeface="Garet"/>
                  <a:sym typeface="Garet"/>
                </a:rPr>
                <a:t>Any questions?</a:t>
              </a:r>
            </a:p>
          </p:txBody>
        </p:sp>
      </p:grpSp>
      <p:sp>
        <p:nvSpPr>
          <p:cNvPr name="AutoShape 14" id="14"/>
          <p:cNvSpPr/>
          <p:nvPr/>
        </p:nvSpPr>
        <p:spPr>
          <a:xfrm>
            <a:off x="9144000" y="6100763"/>
            <a:ext cx="3460180" cy="0"/>
          </a:xfrm>
          <a:prstGeom prst="line">
            <a:avLst/>
          </a:prstGeom>
          <a:ln cap="flat" w="9525">
            <a:solidFill>
              <a:srgbClr val="283353"/>
            </a:solidFill>
            <a:prstDash val="solid"/>
            <a:headEnd type="none" len="sm" w="sm"/>
            <a:tailEnd type="none" len="sm" w="sm"/>
          </a:ln>
        </p:spPr>
      </p:sp>
      <p:sp>
        <p:nvSpPr>
          <p:cNvPr name="TextBox 15" id="15"/>
          <p:cNvSpPr txBox="true"/>
          <p:nvPr/>
        </p:nvSpPr>
        <p:spPr>
          <a:xfrm rot="0">
            <a:off x="9144000" y="3767096"/>
            <a:ext cx="8115300" cy="1671679"/>
          </a:xfrm>
          <a:prstGeom prst="rect">
            <a:avLst/>
          </a:prstGeom>
        </p:spPr>
        <p:txBody>
          <a:bodyPr anchor="t" rtlCol="false" tIns="0" lIns="0" bIns="0" rIns="0">
            <a:spAutoFit/>
          </a:bodyPr>
          <a:lstStyle/>
          <a:p>
            <a:pPr algn="l">
              <a:lnSpc>
                <a:spcPts val="12584"/>
              </a:lnSpc>
            </a:pPr>
            <a:r>
              <a:rPr lang="en-US" sz="12584" spc="-943">
                <a:solidFill>
                  <a:srgbClr val="283353"/>
                </a:solidFill>
                <a:latin typeface="Garet"/>
                <a:ea typeface="Garet"/>
                <a:cs typeface="Garet"/>
                <a:sym typeface="Gare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DAHB-5-eD6U</dc:identifier>
  <dcterms:modified xsi:type="dcterms:W3CDTF">2011-08-01T06:04:30Z</dcterms:modified>
  <cp:revision>1</cp:revision>
  <dc:title>Makeathon Presentation</dc:title>
</cp:coreProperties>
</file>